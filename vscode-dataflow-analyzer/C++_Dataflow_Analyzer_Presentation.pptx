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C++ Dataflow Analyzer Extension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VS Code extension</a:t>
            </a:r>
            <a:r>
              <a:rPr sz="1400">
                <a:solidFill>
                  <a:srgbClr val="000000"/>
                </a:solidFill>
              </a:rPr>
              <a:t> for </a:t>
            </a:r>
            <a:r>
              <a:rPr b="1" sz="1400">
                <a:solidFill>
                  <a:srgbClr val="000000"/>
                </a:solidFill>
              </a:rPr>
              <a:t>static analysis</a:t>
            </a:r>
            <a:r>
              <a:rPr sz="1400">
                <a:solidFill>
                  <a:srgbClr val="000000"/>
                </a:solidFill>
              </a:rPr>
              <a:t> of C++ code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Real-time</a:t>
            </a:r>
            <a:r>
              <a:rPr sz="1400">
                <a:solidFill>
                  <a:srgbClr val="000000"/>
                </a:solidFill>
              </a:rPr>
              <a:t> CFG visualization and </a:t>
            </a:r>
            <a:r>
              <a:rPr b="1" sz="1400">
                <a:solidFill>
                  <a:srgbClr val="000000"/>
                </a:solidFill>
              </a:rPr>
              <a:t>dataflow analysis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Security vulnerability detection</a:t>
            </a:r>
            <a:r>
              <a:rPr sz="1400">
                <a:solidFill>
                  <a:srgbClr val="000000"/>
                </a:solidFill>
              </a:rPr>
              <a:t> with </a:t>
            </a:r>
            <a:r>
              <a:rPr b="1" sz="1400">
                <a:solidFill>
                  <a:srgbClr val="000000"/>
                </a:solidFill>
              </a:rPr>
              <a:t>taint analysis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000000"/>
                </a:solidFill>
              </a:rPr>
              <a:t>Built on </a:t>
            </a:r>
            <a:r>
              <a:rPr b="1" sz="1400">
                <a:solidFill>
                  <a:srgbClr val="000000"/>
                </a:solidFill>
              </a:rPr>
              <a:t>official Clang/LLVM</a:t>
            </a:r>
            <a:r>
              <a:rPr sz="1400">
                <a:solidFill>
                  <a:srgbClr val="000000"/>
                </a:solidFill>
              </a:rPr>
              <a:t> libraries for </a:t>
            </a:r>
            <a:r>
              <a:rPr b="1" sz="1400">
                <a:solidFill>
                  <a:srgbClr val="000000"/>
                </a:solidFill>
              </a:rPr>
              <a:t>academic correctness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Core Capabilities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Control Flow Graph (CFG)</a:t>
            </a:r>
            <a:r>
              <a:rPr sz="1400">
                <a:solidFill>
                  <a:srgbClr val="000000"/>
                </a:solidFill>
              </a:rPr>
              <a:t> generation using `clang::CFG::buildCFG()`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Liveness analysis</a:t>
            </a:r>
            <a:r>
              <a:rPr sz="1400">
                <a:solidFill>
                  <a:srgbClr val="000000"/>
                </a:solidFill>
              </a:rPr>
              <a:t> (backward dataflow)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Reaching definitions</a:t>
            </a:r>
            <a:r>
              <a:rPr sz="1400">
                <a:solidFill>
                  <a:srgbClr val="000000"/>
                </a:solidFill>
              </a:rPr>
              <a:t> analysis (forward dataflow)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Taint analysis</a:t>
            </a:r>
            <a:r>
              <a:rPr sz="1400">
                <a:solidFill>
                  <a:srgbClr val="000000"/>
                </a:solidFill>
              </a:rPr>
              <a:t> with </a:t>
            </a:r>
            <a:r>
              <a:rPr b="1" sz="1400">
                <a:solidFill>
                  <a:srgbClr val="000000"/>
                </a:solidFill>
              </a:rPr>
              <a:t>5 sensitivity levels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Inter-procedural analysis</a:t>
            </a:r>
            <a:r>
              <a:rPr sz="1400">
                <a:solidFill>
                  <a:srgbClr val="000000"/>
                </a:solidFill>
              </a:rPr>
              <a:t> across function boundaries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Security vulnerability detection</a:t>
            </a:r>
            <a:r>
              <a:rPr sz="1400">
                <a:solidFill>
                  <a:srgbClr val="000000"/>
                </a:solidFill>
              </a:rPr>
              <a:t> with </a:t>
            </a:r>
            <a:r>
              <a:rPr b="1" sz="1400">
                <a:solidFill>
                  <a:srgbClr val="000000"/>
                </a:solidFill>
              </a:rPr>
              <a:t>source-to-sink path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Architecture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6949440" cy="3200400"/>
          </a:xfrm>
          <a:prstGeom prst="rect">
            <a:avLst/>
          </a:prstGeom>
          <a:solidFill>
            <a:srgbClr val="FAFAFA"/>
          </a:solidFill>
          <a:ln w="25400">
            <a:solidFill>
              <a:srgbClr val="C8C8C8"/>
            </a:solidFill>
          </a:ln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969696"/>
                </a:solidFill>
              </a:defRPr>
            </a:pPr>
            <a:r>
              <a:t>[ARCHITECTURE DIAGRAM PLACEHOLDER]</a:t>
            </a:r>
          </a:p>
          <a:p/>
          <a:p>
            <a:r>
              <a:t>Add diagram showing:</a:t>
            </a:r>
          </a:p>
          <a:p>
            <a:r>
              <a:t>- Analysis Pipeline (4 stages)</a:t>
            </a:r>
          </a:p>
          <a:p>
            <a:r>
              <a:t>- Key Components (5 components)</a:t>
            </a:r>
          </a:p>
          <a:p>
            <a:r>
              <a:t>- Data flow between components</a:t>
            </a:r>
          </a:p>
          <a:p>
            <a:r>
              <a:t>- CFG → Analysis → Visualization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663440"/>
            <a:ext cx="7863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Analysis Pipeline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646464"/>
                </a:solidFill>
              </a:rPr>
              <a:t>1. **Parsing**: C++ source → CFG (via `cfg-exporter` C++ tool)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646464"/>
                </a:solidFill>
              </a:rPr>
              <a:t>2. **Intra-procedural**: Liveness, Reaching Definitions, Taint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646464"/>
                </a:solidFill>
              </a:rPr>
              <a:t>3. **Inter-procedural**: Call graphs, Parameter mapping, Return values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646464"/>
                </a:solidFill>
              </a:rPr>
              <a:t>4. **Visualization**: Interactive webview with **vis-network**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Key Components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DataflowAnalyzer</a:t>
            </a:r>
            <a:r>
              <a:rPr sz="1400">
                <a:solidFill>
                  <a:srgbClr val="000000"/>
                </a:solidFill>
              </a:rPr>
              <a:t>: Main orchestrator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TaintAnalyzer</a:t>
            </a:r>
            <a:r>
              <a:rPr sz="1400">
                <a:solidFill>
                  <a:srgbClr val="000000"/>
                </a:solidFill>
              </a:rPr>
              <a:t>: Security-focused taint propagation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CallGraphAnalyzer</a:t>
            </a:r>
            <a:r>
              <a:rPr sz="1400">
                <a:solidFill>
                  <a:srgbClr val="000000"/>
                </a:solidFill>
              </a:rPr>
              <a:t>: Function call relationship construction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CFGVisualizer</a:t>
            </a:r>
            <a:r>
              <a:rPr sz="1400">
                <a:solidFill>
                  <a:srgbClr val="000000"/>
                </a:solidFill>
              </a:rPr>
              <a:t>: Interactive visualization layer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Extension.ts</a:t>
            </a:r>
            <a:r>
              <a:rPr sz="1400">
                <a:solidFill>
                  <a:srgbClr val="000000"/>
                </a:solidFill>
              </a:rPr>
              <a:t>: VS Code integration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CFG Generation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cfg-exporter C++ Tool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Uses official Clang/LLVM</a:t>
            </a:r>
            <a:r>
              <a:rPr sz="1400">
                <a:solidFill>
                  <a:srgbClr val="000000"/>
                </a:solidFill>
              </a:rPr>
              <a:t> libraries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`clang::CFG::buildCFG()`</a:t>
            </a:r>
            <a:r>
              <a:rPr sz="1400">
                <a:solidFill>
                  <a:srgbClr val="000000"/>
                </a:solidFill>
              </a:rPr>
              <a:t> for CFG generation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`clang::RecursiveASTVisitor`</a:t>
            </a:r>
            <a:r>
              <a:rPr sz="1400">
                <a:solidFill>
                  <a:srgbClr val="000000"/>
                </a:solidFill>
              </a:rPr>
              <a:t> for AST traversal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CMake build system</a:t>
            </a:r>
            <a:r>
              <a:rPr sz="1400">
                <a:solidFill>
                  <a:srgbClr val="000000"/>
                </a:solidFill>
              </a:rPr>
              <a:t> for compilation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Pipeline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646464"/>
                </a:solidFill>
              </a:rPr>
              <a:t>1. **C++ source file** → cfg-exporter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646464"/>
                </a:solidFill>
              </a:rPr>
              <a:t>2. **AST construction** → Clang AST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646464"/>
                </a:solidFill>
              </a:rPr>
              <a:t>3. **CFG generation** → Clang CFG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646464"/>
                </a:solidFill>
              </a:rPr>
              <a:t>4. **JSON export** → Structured CFG data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646464"/>
                </a:solidFill>
              </a:rPr>
              <a:t>5. **ClangASTParser** → Parses JSON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646464"/>
                </a:solidFill>
              </a:rPr>
              <a:t>6. **EnhancedCPPParser** → Internal CFG format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Extension.ts -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Purpose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VS Code extension entry point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Extension lifecycle management</a:t>
            </a:r>
            <a:r>
              <a:rPr sz="1400">
                <a:solidFill>
                  <a:srgbClr val="000000"/>
                </a:solidFill>
              </a:rPr>
              <a:t>: Activation, deactivation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Command registration</a:t>
            </a:r>
            <a:r>
              <a:rPr sz="1400">
                <a:solidFill>
                  <a:srgbClr val="000000"/>
                </a:solidFill>
              </a:rPr>
              <a:t>: Show CFG, Analyze Workspace, etc.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Configuration management</a:t>
            </a:r>
            <a:r>
              <a:rPr sz="1400">
                <a:solidFill>
                  <a:srgbClr val="000000"/>
                </a:solidFill>
              </a:rPr>
              <a:t>: Taint sensitivity, update mode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Key Responsibilities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Initialize</a:t>
            </a:r>
            <a:r>
              <a:rPr sz="1400">
                <a:solidFill>
                  <a:srgbClr val="000000"/>
                </a:solidFill>
              </a:rPr>
              <a:t> DataflowAnalyzer and CFGVisualizer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Register commands</a:t>
            </a:r>
            <a:r>
              <a:rPr sz="1400">
                <a:solidFill>
                  <a:srgbClr val="000000"/>
                </a:solidFill>
              </a:rPr>
              <a:t> with VS Code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Handle file watchers</a:t>
            </a:r>
            <a:r>
              <a:rPr sz="1400">
                <a:solidFill>
                  <a:srgbClr val="000000"/>
                </a:solidFill>
              </a:rPr>
              <a:t> for incremental updates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Manage state persistence</a:t>
            </a:r>
            <a:r>
              <a:rPr sz="1400">
                <a:solidFill>
                  <a:srgbClr val="000000"/>
                </a:solidFill>
              </a:rPr>
              <a:t> and save states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Extension.ts -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Commands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Show CFG</a:t>
            </a:r>
            <a:r>
              <a:rPr sz="1400">
                <a:solidFill>
                  <a:srgbClr val="000000"/>
                </a:solidFill>
              </a:rPr>
              <a:t>: Opens CFG visualization panel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Analyze Workspace</a:t>
            </a:r>
            <a:r>
              <a:rPr sz="1400">
                <a:solidFill>
                  <a:srgbClr val="000000"/>
                </a:solidFill>
              </a:rPr>
              <a:t>: Analyzes all C++ files in workspace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Analyze Active File</a:t>
            </a:r>
            <a:r>
              <a:rPr sz="1400">
                <a:solidFill>
                  <a:srgbClr val="000000"/>
                </a:solidFill>
              </a:rPr>
              <a:t>: Analyzes only the active file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Clear State</a:t>
            </a:r>
            <a:r>
              <a:rPr sz="1400">
                <a:solidFill>
                  <a:srgbClr val="000000"/>
                </a:solidFill>
              </a:rPr>
              <a:t>: Clears saved analysis state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Save State</a:t>
            </a:r>
            <a:r>
              <a:rPr sz="1400">
                <a:solidFill>
                  <a:srgbClr val="000000"/>
                </a:solidFill>
              </a:rPr>
              <a:t>: Manually saves current state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Re-analyze</a:t>
            </a:r>
            <a:r>
              <a:rPr sz="1400">
                <a:solidFill>
                  <a:srgbClr val="000000"/>
                </a:solidFill>
              </a:rPr>
              <a:t>: Triggers re-analysis with current settings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Change Sensitivity</a:t>
            </a:r>
            <a:r>
              <a:rPr sz="1400">
                <a:solidFill>
                  <a:srgbClr val="000000"/>
                </a:solidFill>
              </a:rPr>
              <a:t>: Changes taint sensitivity and re-analyzes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Configuration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Update Mode</a:t>
            </a:r>
            <a:r>
              <a:rPr sz="1400">
                <a:solidFill>
                  <a:srgbClr val="000000"/>
                </a:solidFill>
              </a:rPr>
              <a:t>: Keystroke or Save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Enable/Disable Analyses</a:t>
            </a:r>
            <a:r>
              <a:rPr sz="1400">
                <a:solidFill>
                  <a:srgbClr val="000000"/>
                </a:solidFill>
              </a:rPr>
              <a:t>: Liveness, Reaching Definitions, Taint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Taint Sensitivity</a:t>
            </a:r>
            <a:r>
              <a:rPr sz="1400">
                <a:solidFill>
                  <a:srgbClr val="000000"/>
                </a:solidFill>
              </a:rPr>
              <a:t>: MINIMAL → MAXIMUM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Inter-Procedural</a:t>
            </a:r>
            <a:r>
              <a:rPr sz="1400">
                <a:solidFill>
                  <a:srgbClr val="000000"/>
                </a:solidFill>
              </a:rPr>
              <a:t>: Enable/disable IPA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DataflowAnalyzer -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Purpose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Main orchestrator</a:t>
            </a:r>
            <a:r>
              <a:rPr sz="1400">
                <a:solidFill>
                  <a:srgbClr val="000000"/>
                </a:solidFill>
              </a:rPr>
              <a:t> of the analysis pipeline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000000"/>
                </a:solidFill>
              </a:rPr>
              <a:t>Coordinates all </a:t>
            </a:r>
            <a:r>
              <a:rPr b="1" sz="1400">
                <a:solidFill>
                  <a:srgbClr val="000000"/>
                </a:solidFill>
              </a:rPr>
              <a:t>intra-procedural</a:t>
            </a:r>
            <a:r>
              <a:rPr sz="1400">
                <a:solidFill>
                  <a:srgbClr val="000000"/>
                </a:solidFill>
              </a:rPr>
              <a:t> and </a:t>
            </a:r>
            <a:r>
              <a:rPr b="1" sz="1400">
                <a:solidFill>
                  <a:srgbClr val="000000"/>
                </a:solidFill>
              </a:rPr>
              <a:t>inter-procedural</a:t>
            </a:r>
            <a:r>
              <a:rPr sz="1400">
                <a:solidFill>
                  <a:srgbClr val="000000"/>
                </a:solidFill>
              </a:rPr>
              <a:t> analyses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000000"/>
                </a:solidFill>
              </a:rPr>
              <a:t>Manages </a:t>
            </a:r>
            <a:r>
              <a:rPr b="1" sz="1400">
                <a:solidFill>
                  <a:srgbClr val="000000"/>
                </a:solidFill>
              </a:rPr>
              <a:t>analysis state</a:t>
            </a:r>
            <a:r>
              <a:rPr sz="1400">
                <a:solidFill>
                  <a:srgbClr val="000000"/>
                </a:solidFill>
              </a:rPr>
              <a:t> and </a:t>
            </a:r>
            <a:r>
              <a:rPr b="1" sz="1400">
                <a:solidFill>
                  <a:srgbClr val="000000"/>
                </a:solidFill>
              </a:rPr>
              <a:t>visualization data preparation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Central hub</a:t>
            </a:r>
            <a:r>
              <a:rPr sz="1400">
                <a:solidFill>
                  <a:srgbClr val="000000"/>
                </a:solidFill>
              </a:rPr>
              <a:t> for all analysis workflows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Responsibilities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Parse</a:t>
            </a:r>
            <a:r>
              <a:rPr sz="1400">
                <a:solidFill>
                  <a:srgbClr val="000000"/>
                </a:solidFill>
              </a:rPr>
              <a:t> C++ files into CFGs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Execute</a:t>
            </a:r>
            <a:r>
              <a:rPr sz="1400">
                <a:solidFill>
                  <a:srgbClr val="000000"/>
                </a:solidFill>
              </a:rPr>
              <a:t> liveness, reaching definitions, taint analyses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Build</a:t>
            </a:r>
            <a:r>
              <a:rPr sz="1400">
                <a:solidFill>
                  <a:srgbClr val="000000"/>
                </a:solidFill>
              </a:rPr>
              <a:t> call graphs for IPA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Run</a:t>
            </a:r>
            <a:r>
              <a:rPr sz="1400">
                <a:solidFill>
                  <a:srgbClr val="000000"/>
                </a:solidFill>
              </a:rPr>
              <a:t> inter-procedural analyses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Prepare</a:t>
            </a:r>
            <a:r>
              <a:rPr sz="1400">
                <a:solidFill>
                  <a:srgbClr val="000000"/>
                </a:solidFill>
              </a:rPr>
              <a:t> visualization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DataflowAnalyzer -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6949440" cy="3200400"/>
          </a:xfrm>
          <a:prstGeom prst="rect">
            <a:avLst/>
          </a:prstGeom>
          <a:solidFill>
            <a:srgbClr val="FAFAFA"/>
          </a:solidFill>
          <a:ln w="25400">
            <a:solidFill>
              <a:srgbClr val="C8C8C8"/>
            </a:solidFill>
          </a:ln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969696"/>
                </a:solidFill>
              </a:defRPr>
            </a:pPr>
            <a:r>
              <a:t>[ANALYSIS PIPELINE DIAGRAM PLACEHOLDER]</a:t>
            </a:r>
          </a:p>
          <a:p/>
          <a:p>
            <a:r>
              <a:t>Add diagram showing:</a:t>
            </a:r>
          </a:p>
          <a:p>
            <a:r>
              <a:t>- 6-step pipeline</a:t>
            </a:r>
          </a:p>
          <a:p>
            <a:r>
              <a:t>- File parsing → Intra-procedural → Call graph</a:t>
            </a:r>
          </a:p>
          <a:p>
            <a:r>
              <a:t>- Inter-procedural → Visualization → State</a:t>
            </a:r>
          </a:p>
          <a:p>
            <a:r>
              <a:t>- Component interactions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663440"/>
            <a:ext cx="7863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Analysis Pipeline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646464"/>
                </a:solidFill>
              </a:rPr>
              <a:t>1. **File parsing** → CFG structures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646464"/>
                </a:solidFill>
              </a:rPr>
              <a:t>2. **Intra-procedural**: Liveness, Reaching Definitions, Taint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646464"/>
                </a:solidFill>
              </a:rPr>
              <a:t>3. **Call graph construction** → CallGraphAnalyzer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646464"/>
                </a:solidFill>
              </a:rPr>
              <a:t>4. **Inter-procedural**: IPA RD, IPA Taint, Context-Sensitive Taint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646464"/>
                </a:solidFill>
              </a:rPr>
              <a:t>5. **Visualization preparation** → CFGVisualizer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646464"/>
                </a:solidFill>
              </a:rPr>
              <a:t>6. **State persistence** → StateManager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State Management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AnalysisState</a:t>
            </a:r>
            <a:r>
              <a:rPr sz="1400">
                <a:solidFill>
                  <a:srgbClr val="000000"/>
                </a:solidFill>
              </a:rPr>
              <a:t>: Complete analysis results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Incremental updates</a:t>
            </a:r>
            <a:r>
              <a:rPr sz="1400">
                <a:solidFill>
                  <a:srgbClr val="000000"/>
                </a:solidFill>
              </a:rPr>
              <a:t>: SHA-256 file hashing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State persistence</a:t>
            </a:r>
            <a:r>
              <a:rPr sz="1400">
                <a:solidFill>
                  <a:srgbClr val="000000"/>
                </a:solidFill>
              </a:rPr>
              <a:t>: `.vscode/dataflow-state.json`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Mutex protection</a:t>
            </a:r>
            <a:r>
              <a:rPr sz="1400">
                <a:solidFill>
                  <a:srgbClr val="000000"/>
                </a:solidFill>
              </a:rPr>
              <a:t>: Prevents race conditions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Intra-Procedural Analyses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Liveness Analysis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Backward dataflow</a:t>
            </a:r>
            <a:r>
              <a:rPr sz="1400">
                <a:solidFill>
                  <a:srgbClr val="000000"/>
                </a:solidFill>
              </a:rPr>
              <a:t> analysis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Equation</a:t>
            </a:r>
            <a:r>
              <a:rPr sz="1400">
                <a:solidFill>
                  <a:srgbClr val="000000"/>
                </a:solidFill>
              </a:rPr>
              <a:t>: `IN[B] = USE[B] ∪ (OUT[B] - DEF[B])`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Fixed-point iteration</a:t>
            </a:r>
            <a:r>
              <a:rPr sz="1400">
                <a:solidFill>
                  <a:srgbClr val="000000"/>
                </a:solidFill>
              </a:rPr>
              <a:t> until convergence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Academic correctness</a:t>
            </a:r>
            <a:r>
              <a:rPr sz="1400">
                <a:solidFill>
                  <a:srgbClr val="000000"/>
                </a:solidFill>
              </a:rPr>
              <a:t>: Cooper &amp; Torczon algorithm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Reaching Definitions Analysis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Forward dataflow</a:t>
            </a:r>
            <a:r>
              <a:rPr sz="1400">
                <a:solidFill>
                  <a:srgbClr val="000000"/>
                </a:solidFill>
              </a:rPr>
              <a:t> analysis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Equation</a:t>
            </a:r>
            <a:r>
              <a:rPr sz="1400">
                <a:solidFill>
                  <a:srgbClr val="000000"/>
                </a:solidFill>
              </a:rPr>
              <a:t>: `IN[B] = ∪ OUT[P]`, `OUT[B] = GEN[B] ∪ (IN[B] - KILL[B])`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Path tracking</a:t>
            </a:r>
            <a:r>
              <a:rPr sz="1400">
                <a:solidFill>
                  <a:srgbClr val="000000"/>
                </a:solidFill>
              </a:rPr>
              <a:t>: Complete propagation history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Function parameters</a:t>
            </a:r>
            <a:r>
              <a:rPr sz="1400">
                <a:solidFill>
                  <a:srgbClr val="000000"/>
                </a:solidFill>
              </a:rPr>
              <a:t>: Initialized as definitions at entry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FunctionCallExtractor -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Purpose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Extracts function calls</a:t>
            </a:r>
            <a:r>
              <a:rPr sz="1400">
                <a:solidFill>
                  <a:srgbClr val="000000"/>
                </a:solidFill>
              </a:rPr>
              <a:t> from CFG statements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CFG/AST-aware parsing</a:t>
            </a:r>
            <a:r>
              <a:rPr sz="1400">
                <a:solidFill>
                  <a:srgbClr val="000000"/>
                </a:solidFill>
              </a:rPr>
              <a:t> (not regex-based)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000000"/>
                </a:solidFill>
              </a:rPr>
              <a:t>Handles </a:t>
            </a:r>
            <a:r>
              <a:rPr b="1" sz="1400">
                <a:solidFill>
                  <a:srgbClr val="000000"/>
                </a:solidFill>
              </a:rPr>
              <a:t>Clang-specific formats</a:t>
            </a:r>
            <a:r>
              <a:rPr sz="1400">
                <a:solidFill>
                  <a:srgbClr val="000000"/>
                </a:solidFill>
              </a:rPr>
              <a:t> (recovery expressions, implicit casts)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000000"/>
                </a:solidFill>
              </a:rPr>
              <a:t>Used by </a:t>
            </a:r>
            <a:r>
              <a:rPr b="1" sz="1400">
                <a:solidFill>
                  <a:srgbClr val="000000"/>
                </a:solidFill>
              </a:rPr>
              <a:t>CallGraphAnalyzer</a:t>
            </a:r>
            <a:r>
              <a:rPr sz="1400">
                <a:solidFill>
                  <a:srgbClr val="000000"/>
                </a:solidFill>
              </a:rPr>
              <a:t> and </a:t>
            </a:r>
            <a:r>
              <a:rPr b="1" sz="1400">
                <a:solidFill>
                  <a:srgbClr val="000000"/>
                </a:solidFill>
              </a:rPr>
              <a:t>TaintAnalyzer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Key Features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Recursive extraction</a:t>
            </a:r>
            <a:r>
              <a:rPr sz="1400">
                <a:solidFill>
                  <a:srgbClr val="000000"/>
                </a:solidFill>
              </a:rPr>
              <a:t> for nested calls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Clang artifact removal</a:t>
            </a:r>
            <a:r>
              <a:rPr sz="1400">
                <a:solidFill>
                  <a:srgbClr val="000000"/>
                </a:solidFill>
              </a:rPr>
              <a:t> (recovery-expr, implicit casts)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Argument parsing</a:t>
            </a:r>
            <a:r>
              <a:rPr sz="1400">
                <a:solidFill>
                  <a:srgbClr val="000000"/>
                </a:solidFill>
              </a:rPr>
              <a:t> with proper nesting handling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Position tracking</a:t>
            </a:r>
            <a:r>
              <a:rPr sz="1400">
                <a:solidFill>
                  <a:srgbClr val="000000"/>
                </a:solidFill>
              </a:rPr>
              <a:t> for call sites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FunctionCallExtractor -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Algorithm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646464"/>
                </a:solidFill>
              </a:rPr>
              <a:t>1. **Clean statement text**: Remove Clang artifacts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646464"/>
                </a:solidFill>
              </a:rPr>
              <a:t>2. **Pattern matching**: Identifier followed by `(`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646464"/>
                </a:solidFill>
              </a:rPr>
              <a:t>3. **Recursive extraction**: Handle nested calls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646464"/>
                </a:solidFill>
              </a:rPr>
              <a:t>4. **Argument parsing**: Balance parentheses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646464"/>
                </a:solidFill>
              </a:rPr>
              <a:t>5. **Position tracking**: Start/end positions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Handled Formats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Normal</a:t>
            </a:r>
            <a:r>
              <a:rPr sz="1400">
                <a:solidFill>
                  <a:srgbClr val="000000"/>
                </a:solidFill>
              </a:rPr>
              <a:t>: `scanf("%d", &amp;x)`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Recovery</a:t>
            </a:r>
            <a:r>
              <a:rPr sz="1400">
                <a:solidFill>
                  <a:srgbClr val="000000"/>
                </a:solidFill>
              </a:rPr>
              <a:t>: `&lt;recovery-expr&gt;(scanf, "%d", &amp;x)`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Implicit casts</a:t>
            </a:r>
            <a:r>
              <a:rPr sz="1400">
                <a:solidFill>
                  <a:srgbClr val="000000"/>
                </a:solidFill>
              </a:rPr>
              <a:t>: `[B1.2](scanf("%d", &amp;x))`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Nested</a:t>
            </a:r>
            <a:r>
              <a:rPr sz="1400">
                <a:solidFill>
                  <a:srgbClr val="000000"/>
                </a:solidFill>
              </a:rPr>
              <a:t>: `foo(bar(x), y)`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TaintAnalyzer -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Purpose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Forward taint propagation</a:t>
            </a:r>
            <a:r>
              <a:rPr sz="1400">
                <a:solidFill>
                  <a:srgbClr val="000000"/>
                </a:solidFill>
              </a:rPr>
              <a:t> analysis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000000"/>
                </a:solidFill>
              </a:rPr>
              <a:t>Tracks </a:t>
            </a:r>
            <a:r>
              <a:rPr b="1" sz="1400">
                <a:solidFill>
                  <a:srgbClr val="000000"/>
                </a:solidFill>
              </a:rPr>
              <a:t>potentially malicious data</a:t>
            </a:r>
            <a:r>
              <a:rPr sz="1400">
                <a:solidFill>
                  <a:srgbClr val="000000"/>
                </a:solidFill>
              </a:rPr>
              <a:t> through the program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5 sensitivity levels</a:t>
            </a:r>
            <a:r>
              <a:rPr sz="1400">
                <a:solidFill>
                  <a:srgbClr val="000000"/>
                </a:solidFill>
              </a:rPr>
              <a:t>: MINIMAL → MAXIMUM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Source-to-sink tracking</a:t>
            </a:r>
            <a:r>
              <a:rPr sz="1400">
                <a:solidFill>
                  <a:srgbClr val="000000"/>
                </a:solidFill>
              </a:rPr>
              <a:t> for vulnerability detection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Key Features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Taint sources</a:t>
            </a:r>
            <a:r>
              <a:rPr sz="1400">
                <a:solidFill>
                  <a:srgbClr val="000000"/>
                </a:solidFill>
              </a:rPr>
              <a:t>: User input, file I/O, network, environment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Taint propagation</a:t>
            </a:r>
            <a:r>
              <a:rPr sz="1400">
                <a:solidFill>
                  <a:srgbClr val="000000"/>
                </a:solidFill>
              </a:rPr>
              <a:t>: Through assignments and function calls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Taint sinks</a:t>
            </a:r>
            <a:r>
              <a:rPr sz="1400">
                <a:solidFill>
                  <a:srgbClr val="000000"/>
                </a:solidFill>
              </a:rPr>
              <a:t>: SQL injection, command injection, format strings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Control-dependent taint</a:t>
            </a:r>
            <a:r>
              <a:rPr sz="1400">
                <a:solidFill>
                  <a:srgbClr val="000000"/>
                </a:solidFill>
              </a:rPr>
              <a:t>: Implicit flow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TaintAnalyzer - Sensitivity Levels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MINIMAL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Data-flow taint only</a:t>
            </a:r>
            <a:r>
              <a:rPr sz="1400">
                <a:solidFill>
                  <a:srgbClr val="000000"/>
                </a:solidFill>
              </a:rPr>
              <a:t> (explicit flow)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No control-dependent</a:t>
            </a:r>
            <a:r>
              <a:rPr sz="1400">
                <a:solidFill>
                  <a:srgbClr val="000000"/>
                </a:solidFill>
              </a:rPr>
              <a:t> taint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Fastest</a:t>
            </a:r>
            <a:r>
              <a:rPr sz="1400">
                <a:solidFill>
                  <a:srgbClr val="000000"/>
                </a:solidFill>
              </a:rPr>
              <a:t> analysis, </a:t>
            </a:r>
            <a:r>
              <a:rPr b="1" sz="1400">
                <a:solidFill>
                  <a:srgbClr val="000000"/>
                </a:solidFill>
              </a:rPr>
              <a:t>cleanest</a:t>
            </a:r>
            <a:r>
              <a:rPr sz="1400">
                <a:solidFill>
                  <a:srgbClr val="000000"/>
                </a:solidFill>
              </a:rPr>
              <a:t> visualization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CONSERVATIVE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Basic control-dependent</a:t>
            </a:r>
            <a:r>
              <a:rPr sz="1400">
                <a:solidFill>
                  <a:srgbClr val="000000"/>
                </a:solidFill>
              </a:rPr>
              <a:t> taint (direct branches)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No nested</a:t>
            </a:r>
            <a:r>
              <a:rPr sz="1400">
                <a:solidFill>
                  <a:srgbClr val="000000"/>
                </a:solidFill>
              </a:rPr>
              <a:t> structures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Fast</a:t>
            </a:r>
            <a:r>
              <a:rPr sz="1400">
                <a:solidFill>
                  <a:srgbClr val="000000"/>
                </a:solidFill>
              </a:rPr>
              <a:t> analysis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BALANCED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Full control-dependent</a:t>
            </a:r>
            <a:r>
              <a:rPr sz="1400">
                <a:solidFill>
                  <a:srgbClr val="000000"/>
                </a:solidFill>
              </a:rPr>
              <a:t> taint (including nested)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Inter-procedural</a:t>
            </a:r>
            <a:r>
              <a:rPr sz="1400">
                <a:solidFill>
                  <a:srgbClr val="000000"/>
                </a:solidFill>
              </a:rPr>
              <a:t> taint propagation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Recursive</a:t>
            </a:r>
            <a:r>
              <a:rPr sz="1400">
                <a:solidFill>
                  <a:srgbClr val="000000"/>
                </a:solidFill>
              </a:rPr>
              <a:t> propagation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TaintAnalyzer - Sensitivity Levels (Continued)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PRECISE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Path-sensitive</a:t>
            </a:r>
            <a:r>
              <a:rPr sz="1400">
                <a:solidFill>
                  <a:srgbClr val="000000"/>
                </a:solidFill>
              </a:rPr>
              <a:t> analysis (reduces false positives)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Field-sensitive</a:t>
            </a:r>
            <a:r>
              <a:rPr sz="1400">
                <a:solidFill>
                  <a:srgbClr val="000000"/>
                </a:solidFill>
              </a:rPr>
              <a:t> analysis (struct field level)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All BALANCED features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MAXIMUM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Context-sensitive</a:t>
            </a:r>
            <a:r>
              <a:rPr sz="1400">
                <a:solidFill>
                  <a:srgbClr val="000000"/>
                </a:solidFill>
              </a:rPr>
              <a:t> analysis (k-limited contexts)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Flow-sensitive</a:t>
            </a:r>
            <a:r>
              <a:rPr sz="1400">
                <a:solidFill>
                  <a:srgbClr val="000000"/>
                </a:solidFill>
              </a:rPr>
              <a:t> analysis (statement order awareness)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All PRECISE features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Maximum precision</a:t>
            </a:r>
            <a:r>
              <a:rPr sz="1400">
                <a:solidFill>
                  <a:srgbClr val="000000"/>
                </a:solidFill>
              </a:rPr>
              <a:t>, slower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TaintAnalyzer - Source Registry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TaintSourceRegistry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7 source categories</a:t>
            </a:r>
            <a:r>
              <a:rPr sz="1400">
                <a:solidFill>
                  <a:srgbClr val="000000"/>
                </a:solidFill>
              </a:rPr>
              <a:t>: User input, File I/O, Network, Environment, Command line, Database, Configuration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Function patterns</a:t>
            </a:r>
            <a:r>
              <a:rPr sz="1400">
                <a:solidFill>
                  <a:srgbClr val="000000"/>
                </a:solidFill>
              </a:rPr>
              <a:t>: `scanf`, `gets`, `fgets`, `read`, `recv`, `getenv`, `argv`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Automatic detection</a:t>
            </a:r>
            <a:r>
              <a:rPr sz="1400">
                <a:solidFill>
                  <a:srgbClr val="000000"/>
                </a:solidFill>
              </a:rPr>
              <a:t>: Identifies taint sources in statements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Label assignment</a:t>
            </a:r>
            <a:r>
              <a:rPr sz="1400">
                <a:solidFill>
                  <a:srgbClr val="000000"/>
                </a:solidFill>
              </a:rPr>
              <a:t>: USER_INPUT, FILE_CONTENT, NETWORK_DATA, etc.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Usage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TaintAnalyzer</a:t>
            </a:r>
            <a:r>
              <a:rPr sz="1400">
                <a:solidFill>
                  <a:srgbClr val="000000"/>
                </a:solidFill>
              </a:rPr>
              <a:t> scans statements for source patterns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Marks variables</a:t>
            </a:r>
            <a:r>
              <a:rPr sz="1400">
                <a:solidFill>
                  <a:srgbClr val="000000"/>
                </a:solidFill>
              </a:rPr>
              <a:t> as tainted with appropriate labels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Tracks propagation path</a:t>
            </a:r>
            <a:r>
              <a:rPr sz="1400">
                <a:solidFill>
                  <a:srgbClr val="000000"/>
                </a:solidFill>
              </a:rPr>
              <a:t> from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TaintAnalyzer - Sink Registry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TaintSinkRegistry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7 sink categories</a:t>
            </a:r>
            <a:r>
              <a:rPr sz="1400">
                <a:solidFill>
                  <a:srgbClr val="000000"/>
                </a:solidFill>
              </a:rPr>
              <a:t>: SQL injection, Command injection, Format string, Path traversal, Buffer overflow, Code injection, Integer overflow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Function patterns</a:t>
            </a:r>
            <a:r>
              <a:rPr sz="1400">
                <a:solidFill>
                  <a:srgbClr val="000000"/>
                </a:solidFill>
              </a:rPr>
              <a:t>: `printf`, `system`, `sprintf`, `strcpy`, `exec*`, SQL queries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Vulnerability mapping</a:t>
            </a:r>
            <a:r>
              <a:rPr sz="1400">
                <a:solidFill>
                  <a:srgbClr val="000000"/>
                </a:solidFill>
              </a:rPr>
              <a:t>: Sink → Vulnerability type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Severity classification</a:t>
            </a:r>
            <a:r>
              <a:rPr sz="1400">
                <a:solidFill>
                  <a:srgbClr val="000000"/>
                </a:solidFill>
              </a:rPr>
              <a:t>: Critical, High, Medium, Low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Usage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TaintAnalyzer</a:t>
            </a:r>
            <a:r>
              <a:rPr sz="1400">
                <a:solidFill>
                  <a:srgbClr val="000000"/>
                </a:solidFill>
              </a:rPr>
              <a:t> checks if tainted variables reach sinks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Reports vulnerabilities</a:t>
            </a:r>
            <a:r>
              <a:rPr sz="1400">
                <a:solidFill>
                  <a:srgbClr val="000000"/>
                </a:solidFill>
              </a:rPr>
              <a:t> when taint reaches sink unsanitized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Constructs attack paths</a:t>
            </a:r>
            <a:r>
              <a:rPr sz="1400">
                <a:solidFill>
                  <a:srgbClr val="000000"/>
                </a:solidFill>
              </a:rPr>
              <a:t> from source to sink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SanitizationRegistry -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Purpose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Registry of sanitization functions</a:t>
            </a:r>
            <a:r>
              <a:rPr sz="1400">
                <a:solidFill>
                  <a:srgbClr val="000000"/>
                </a:solidFill>
              </a:rPr>
              <a:t> that remove taint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000000"/>
                </a:solidFill>
              </a:rPr>
              <a:t>Prevents </a:t>
            </a:r>
            <a:r>
              <a:rPr b="1" sz="1400">
                <a:solidFill>
                  <a:srgbClr val="000000"/>
                </a:solidFill>
              </a:rPr>
              <a:t>false positives</a:t>
            </a:r>
            <a:r>
              <a:rPr sz="1400">
                <a:solidFill>
                  <a:srgbClr val="000000"/>
                </a:solidFill>
              </a:rPr>
              <a:t> by identifying safe operations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6 sanitization types</a:t>
            </a:r>
            <a:r>
              <a:rPr sz="1400">
                <a:solidFill>
                  <a:srgbClr val="000000"/>
                </a:solidFill>
              </a:rPr>
              <a:t>: Validation, Encoding, Escaping, Whitelist, Conversion, Length Limit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000000"/>
                </a:solidFill>
              </a:rPr>
              <a:t>Used by </a:t>
            </a:r>
            <a:r>
              <a:rPr b="1" sz="1400">
                <a:solidFill>
                  <a:srgbClr val="000000"/>
                </a:solidFill>
              </a:rPr>
              <a:t>TaintAnalyzer</a:t>
            </a:r>
            <a:r>
              <a:rPr sz="1400">
                <a:solidFill>
                  <a:srgbClr val="000000"/>
                </a:solidFill>
              </a:rPr>
              <a:t> to remove taint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Key Features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Function detection</a:t>
            </a:r>
            <a:r>
              <a:rPr sz="1400">
                <a:solidFill>
                  <a:srgbClr val="000000"/>
                </a:solidFill>
              </a:rPr>
              <a:t>: Identifies sanitization calls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Taint removal</a:t>
            </a:r>
            <a:r>
              <a:rPr sz="1400">
                <a:solidFill>
                  <a:srgbClr val="000000"/>
                </a:solidFill>
              </a:rPr>
              <a:t>: Marks sanitized variables as safe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Type classification</a:t>
            </a:r>
            <a:r>
              <a:rPr sz="1400">
                <a:solidFill>
                  <a:srgbClr val="000000"/>
                </a:solidFill>
              </a:rPr>
              <a:t>: Categorizes sanitization methods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Custom sanitizers</a:t>
            </a:r>
            <a:r>
              <a:rPr sz="1400">
                <a:solidFill>
                  <a:srgbClr val="000000"/>
                </a:solidFill>
              </a:rPr>
              <a:t>: User-defined sanitization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SanitizationRegistry -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Sanitization Types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VALIDATION</a:t>
            </a:r>
            <a:r>
              <a:rPr sz="1400">
                <a:solidFill>
                  <a:srgbClr val="000000"/>
                </a:solidFill>
              </a:rPr>
              <a:t>: `isalnum()`, `isdigit()` → Input validation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ENCODING</a:t>
            </a:r>
            <a:r>
              <a:rPr sz="1400">
                <a:solidFill>
                  <a:srgbClr val="000000"/>
                </a:solidFill>
              </a:rPr>
              <a:t>: `url_encode()`, `html_encode()` → Data encoding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ESCAPING</a:t>
            </a:r>
            <a:r>
              <a:rPr sz="1400">
                <a:solidFill>
                  <a:srgbClr val="000000"/>
                </a:solidFill>
              </a:rPr>
              <a:t>: `sql_escape()`, `shell_escape()` → Special character escaping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WHITELIST</a:t>
            </a:r>
            <a:r>
              <a:rPr sz="1400">
                <a:solidFill>
                  <a:srgbClr val="000000"/>
                </a:solidFill>
              </a:rPr>
              <a:t>: Allowlist validation → Restricted character sets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CONVERSION</a:t>
            </a:r>
            <a:r>
              <a:rPr sz="1400">
                <a:solidFill>
                  <a:srgbClr val="000000"/>
                </a:solidFill>
              </a:rPr>
              <a:t>: Type conversion → Safe type transformations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LENGTH_LIMIT</a:t>
            </a:r>
            <a:r>
              <a:rPr sz="1400">
                <a:solidFill>
                  <a:srgbClr val="000000"/>
                </a:solidFill>
              </a:rPr>
              <a:t>: Buffer size limits → Bounds checking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Usage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TaintAnalyzer</a:t>
            </a:r>
            <a:r>
              <a:rPr sz="1400">
                <a:solidFill>
                  <a:srgbClr val="000000"/>
                </a:solidFill>
              </a:rPr>
              <a:t> checks registry before reporting vulnerabilities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Removes taint</a:t>
            </a:r>
            <a:r>
              <a:rPr sz="1400">
                <a:solidFill>
                  <a:srgbClr val="000000"/>
                </a:solidFill>
              </a:rPr>
              <a:t> from sanitized variables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Prevents false positives</a:t>
            </a:r>
            <a:r>
              <a:rPr sz="1400">
                <a:solidFill>
                  <a:srgbClr val="000000"/>
                </a:solidFill>
              </a:rPr>
              <a:t> in security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SecurityAnalyzer -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Purpose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Detects security vulnerabilities</a:t>
            </a:r>
            <a:r>
              <a:rPr sz="1400">
                <a:solidFill>
                  <a:srgbClr val="000000"/>
                </a:solidFill>
              </a:rPr>
              <a:t> in C++ code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000000"/>
                </a:solidFill>
              </a:rPr>
              <a:t>Integrates with </a:t>
            </a:r>
            <a:r>
              <a:rPr b="1" sz="1400">
                <a:solidFill>
                  <a:srgbClr val="000000"/>
                </a:solidFill>
              </a:rPr>
              <a:t>taint analysis</a:t>
            </a:r>
            <a:r>
              <a:rPr sz="1400">
                <a:solidFill>
                  <a:srgbClr val="000000"/>
                </a:solidFill>
              </a:rPr>
              <a:t> for source-to-sink tracking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14 vulnerability types</a:t>
            </a:r>
            <a:r>
              <a:rPr sz="1400">
                <a:solidFill>
                  <a:srgbClr val="000000"/>
                </a:solidFill>
              </a:rPr>
              <a:t>: Buffer overflow, SQL injection, Command injection, etc.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CWE mapping</a:t>
            </a:r>
            <a:r>
              <a:rPr sz="1400">
                <a:solidFill>
                  <a:srgbClr val="000000"/>
                </a:solidFill>
              </a:rPr>
              <a:t> for vulnerability classification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Key Features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Taint-based detection</a:t>
            </a:r>
            <a:r>
              <a:rPr sz="1400">
                <a:solidFill>
                  <a:srgbClr val="000000"/>
                </a:solidFill>
              </a:rPr>
              <a:t>: Tainted data → Security sinks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Pattern-based detection</a:t>
            </a:r>
            <a:r>
              <a:rPr sz="1400">
                <a:solidFill>
                  <a:srgbClr val="000000"/>
                </a:solidFill>
              </a:rPr>
              <a:t>: Unsafe operations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Attack path construction</a:t>
            </a:r>
            <a:r>
              <a:rPr sz="1400">
                <a:solidFill>
                  <a:srgbClr val="000000"/>
                </a:solidFill>
              </a:rPr>
              <a:t>: Source-to-sink paths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Severity classification</a:t>
            </a:r>
            <a:r>
              <a:rPr sz="1400">
                <a:solidFill>
                  <a:srgbClr val="000000"/>
                </a:solidFill>
              </a:rPr>
              <a:t>: Critical, High, Medium, 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SecurityAnalyzer -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Vulnerability Types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Buffer Overflow</a:t>
            </a:r>
            <a:r>
              <a:rPr sz="1400">
                <a:solidFill>
                  <a:srgbClr val="000000"/>
                </a:solidFill>
              </a:rPr>
              <a:t>: `strcpy()`, `strcat()`, `sprintf()`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SQL Injection</a:t>
            </a:r>
            <a:r>
              <a:rPr sz="1400">
                <a:solidFill>
                  <a:srgbClr val="000000"/>
                </a:solidFill>
              </a:rPr>
              <a:t>: Unsafe SQL query construction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Command Injection</a:t>
            </a:r>
            <a:r>
              <a:rPr sz="1400">
                <a:solidFill>
                  <a:srgbClr val="000000"/>
                </a:solidFill>
              </a:rPr>
              <a:t>: `system()`, `popen()`, `exec*()`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Format String</a:t>
            </a:r>
            <a:r>
              <a:rPr sz="1400">
                <a:solidFill>
                  <a:srgbClr val="000000"/>
                </a:solidFill>
              </a:rPr>
              <a:t>: `printf()` with user-controlled format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Use-After-Free</a:t>
            </a:r>
            <a:r>
              <a:rPr sz="1400">
                <a:solidFill>
                  <a:srgbClr val="000000"/>
                </a:solidFill>
              </a:rPr>
              <a:t>: Pointer use after `free()`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Double Free</a:t>
            </a:r>
            <a:r>
              <a:rPr sz="1400">
                <a:solidFill>
                  <a:srgbClr val="000000"/>
                </a:solidFill>
              </a:rPr>
              <a:t>: Multiple `free()` calls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Path Traversal</a:t>
            </a:r>
            <a:r>
              <a:rPr sz="1400">
                <a:solidFill>
                  <a:srgbClr val="000000"/>
                </a:solidFill>
              </a:rPr>
              <a:t>: Unsafe file operations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Algorithm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Check taint flow</a:t>
            </a:r>
            <a:r>
              <a:rPr sz="1400">
                <a:solidFill>
                  <a:srgbClr val="000000"/>
                </a:solidFill>
              </a:rPr>
              <a:t> to security sinks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Verify sanitization</a:t>
            </a:r>
            <a:r>
              <a:rPr sz="1400">
                <a:solidFill>
                  <a:srgbClr val="000000"/>
                </a:solidFill>
              </a:rPr>
              <a:t> (using SanitizationRegistry)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Construct attack paths</a:t>
            </a:r>
            <a:r>
              <a:rPr sz="1400">
                <a:solidFill>
                  <a:srgbClr val="000000"/>
                </a:solidFill>
              </a:rPr>
              <a:t> from source to sink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Classify severity</a:t>
            </a:r>
            <a:r>
              <a:rPr sz="1400">
                <a:solidFill>
                  <a:srgbClr val="000000"/>
                </a:solidFill>
              </a:rPr>
              <a:t> and </a:t>
            </a:r>
            <a:r>
              <a:rPr b="1" sz="1400">
                <a:solidFill>
                  <a:srgbClr val="000000"/>
                </a:solidFill>
              </a:rPr>
              <a:t>exploitability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CallGraphAnalyzer -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Purpose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000000"/>
                </a:solidFill>
              </a:rPr>
              <a:t>Builds </a:t>
            </a:r>
            <a:r>
              <a:rPr b="1" sz="1400">
                <a:solidFill>
                  <a:srgbClr val="000000"/>
                </a:solidFill>
              </a:rPr>
              <a:t>call graphs</a:t>
            </a:r>
            <a:r>
              <a:rPr sz="1400">
                <a:solidFill>
                  <a:srgbClr val="000000"/>
                </a:solidFill>
              </a:rPr>
              <a:t> for </a:t>
            </a:r>
            <a:r>
              <a:rPr b="1" sz="1400">
                <a:solidFill>
                  <a:srgbClr val="000000"/>
                </a:solidFill>
              </a:rPr>
              <a:t>inter-procedural analysis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000000"/>
                </a:solidFill>
              </a:rPr>
              <a:t>Extracts </a:t>
            </a:r>
            <a:r>
              <a:rPr b="1" sz="1400">
                <a:solidFill>
                  <a:srgbClr val="000000"/>
                </a:solidFill>
              </a:rPr>
              <a:t>function calls</a:t>
            </a:r>
            <a:r>
              <a:rPr sz="1400">
                <a:solidFill>
                  <a:srgbClr val="000000"/>
                </a:solidFill>
              </a:rPr>
              <a:t> from CFG statements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000000"/>
                </a:solidFill>
              </a:rPr>
              <a:t>Creates </a:t>
            </a:r>
            <a:r>
              <a:rPr b="1" sz="1400">
                <a:solidFill>
                  <a:srgbClr val="000000"/>
                </a:solidFill>
              </a:rPr>
              <a:t>caller/callee relationship maps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Phase 1</a:t>
            </a:r>
            <a:r>
              <a:rPr sz="1400">
                <a:solidFill>
                  <a:srgbClr val="000000"/>
                </a:solidFill>
              </a:rPr>
              <a:t> of IPA framework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Key Features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Function call extraction</a:t>
            </a:r>
            <a:r>
              <a:rPr sz="1400">
                <a:solidFill>
                  <a:srgbClr val="000000"/>
                </a:solidFill>
              </a:rPr>
              <a:t> using `FunctionCallExtractor`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Recursion detection</a:t>
            </a:r>
            <a:r>
              <a:rPr sz="1400">
                <a:solidFill>
                  <a:srgbClr val="000000"/>
                </a:solidFill>
              </a:rPr>
              <a:t> (direct, mutual, tail recursion)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External function identification</a:t>
            </a:r>
            <a:r>
              <a:rPr sz="1400">
                <a:solidFill>
                  <a:srgbClr val="000000"/>
                </a:solidFill>
              </a:rPr>
              <a:t> (library/system calls)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Bidirectional mapping</a:t>
            </a:r>
            <a:r>
              <a:rPr sz="1400">
                <a:solidFill>
                  <a:srgbClr val="000000"/>
                </a:solidFill>
              </a:rPr>
              <a:t>: `callsFrom` and `callsTo`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CallGraphAnalyzer -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Data Structures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CallGraph</a:t>
            </a:r>
            <a:r>
              <a:rPr sz="1400">
                <a:solidFill>
                  <a:srgbClr val="000000"/>
                </a:solidFill>
              </a:rPr>
              <a:t>: Functions map, calls array, `callsFrom`, `callsTo`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FunctionCall</a:t>
            </a:r>
            <a:r>
              <a:rPr sz="1400">
                <a:solidFill>
                  <a:srgbClr val="000000"/>
                </a:solidFill>
              </a:rPr>
              <a:t>: Caller, callee, call site, arguments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FunctionMetadata</a:t>
            </a:r>
            <a:r>
              <a:rPr sz="1400">
                <a:solidFill>
                  <a:srgbClr val="000000"/>
                </a:solidFill>
              </a:rPr>
              <a:t>: CFG, parameters, return type, flags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Algorithm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Iterate</a:t>
            </a:r>
            <a:r>
              <a:rPr sz="1400">
                <a:solidFill>
                  <a:srgbClr val="000000"/>
                </a:solidFill>
              </a:rPr>
              <a:t> through all function CFGs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Extract calls</a:t>
            </a:r>
            <a:r>
              <a:rPr sz="1400">
                <a:solidFill>
                  <a:srgbClr val="000000"/>
                </a:solidFill>
              </a:rPr>
              <a:t> from statements using `FunctionCallExtractor`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Build indices</a:t>
            </a:r>
            <a:r>
              <a:rPr sz="1400">
                <a:solidFill>
                  <a:srgbClr val="000000"/>
                </a:solidFill>
              </a:rPr>
              <a:t> for efficient lookup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Detect recursion</a:t>
            </a:r>
            <a:r>
              <a:rPr sz="1400">
                <a:solidFill>
                  <a:srgbClr val="000000"/>
                </a:solidFill>
              </a:rPr>
              <a:t> using </a:t>
            </a:r>
            <a:r>
              <a:rPr b="1" sz="1400">
                <a:solidFill>
                  <a:srgbClr val="000000"/>
                </a:solidFill>
              </a:rPr>
              <a:t>DFS</a:t>
            </a:r>
            <a:r>
              <a:rPr sz="1400">
                <a:solidFill>
                  <a:srgbClr val="000000"/>
                </a:solidFill>
              </a:rPr>
              <a:t> traversal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Identify externals</a:t>
            </a:r>
            <a:r>
              <a:rPr sz="1400">
                <a:solidFill>
                  <a:srgbClr val="000000"/>
                </a:solidFill>
              </a:rPr>
              <a:t> using predefined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ParameterAnalyzer -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Purpose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Sophisticated parameter mapping</a:t>
            </a:r>
            <a:r>
              <a:rPr sz="1400">
                <a:solidFill>
                  <a:srgbClr val="000000"/>
                </a:solidFill>
              </a:rPr>
              <a:t> for inter-procedural analysis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000000"/>
                </a:solidFill>
              </a:rPr>
              <a:t>Analyzes </a:t>
            </a:r>
            <a:r>
              <a:rPr b="1" sz="1400">
                <a:solidFill>
                  <a:srgbClr val="000000"/>
                </a:solidFill>
              </a:rPr>
              <a:t>argument derivation patterns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7 derivation types</a:t>
            </a:r>
            <a:r>
              <a:rPr sz="1400">
                <a:solidFill>
                  <a:srgbClr val="000000"/>
                </a:solidFill>
              </a:rPr>
              <a:t>: Direct, Expression, Composite, Address, Call, Dereference, Array Access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Phase 4</a:t>
            </a:r>
            <a:r>
              <a:rPr sz="1400">
                <a:solidFill>
                  <a:srgbClr val="000000"/>
                </a:solidFill>
              </a:rPr>
              <a:t> of IPA framework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Key Features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Derivation analysis</a:t>
            </a:r>
            <a:r>
              <a:rPr sz="1400">
                <a:solidFill>
                  <a:srgbClr val="000000"/>
                </a:solidFill>
              </a:rPr>
              <a:t>: How arguments are computed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Variable tracking</a:t>
            </a:r>
            <a:r>
              <a:rPr sz="1400">
                <a:solidFill>
                  <a:srgbClr val="000000"/>
                </a:solidFill>
              </a:rPr>
              <a:t>: Base variables and transformations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Type inference</a:t>
            </a:r>
            <a:r>
              <a:rPr sz="1400">
                <a:solidFill>
                  <a:srgbClr val="000000"/>
                </a:solidFill>
              </a:rPr>
              <a:t>: Argument types for matching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Position mapping</a:t>
            </a:r>
            <a:r>
              <a:rPr sz="1400">
                <a:solidFill>
                  <a:srgbClr val="000000"/>
                </a:solidFill>
              </a:rPr>
              <a:t>: Formal ↔ Actual parameter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ParameterAnalyzer -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Derivation Types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DIRECT</a:t>
            </a:r>
            <a:r>
              <a:rPr sz="1400">
                <a:solidFill>
                  <a:srgbClr val="000000"/>
                </a:solidFill>
              </a:rPr>
              <a:t>: `foo(x)` → Direct variable reference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EXPRESSION</a:t>
            </a:r>
            <a:r>
              <a:rPr sz="1400">
                <a:solidFill>
                  <a:srgbClr val="000000"/>
                </a:solidFill>
              </a:rPr>
              <a:t>: `foo(x + 1)` → Arithmetic expression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COMPOSITE</a:t>
            </a:r>
            <a:r>
              <a:rPr sz="1400">
                <a:solidFill>
                  <a:srgbClr val="000000"/>
                </a:solidFill>
              </a:rPr>
              <a:t>: `foo(obj.field)` → Member access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ADDRESS</a:t>
            </a:r>
            <a:r>
              <a:rPr sz="1400">
                <a:solidFill>
                  <a:srgbClr val="000000"/>
                </a:solidFill>
              </a:rPr>
              <a:t>: `foo(&amp;x)` → Address-of operator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CALL</a:t>
            </a:r>
            <a:r>
              <a:rPr sz="1400">
                <a:solidFill>
                  <a:srgbClr val="000000"/>
                </a:solidFill>
              </a:rPr>
              <a:t>: `foo(bar(y))` → Function call result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DEREFERENCE</a:t>
            </a:r>
            <a:r>
              <a:rPr sz="1400">
                <a:solidFill>
                  <a:srgbClr val="000000"/>
                </a:solidFill>
              </a:rPr>
              <a:t>: `foo(*ptr)` → Pointer dereference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ARRAY_ACCESS</a:t>
            </a:r>
            <a:r>
              <a:rPr sz="1400">
                <a:solidFill>
                  <a:srgbClr val="000000"/>
                </a:solidFill>
              </a:rPr>
              <a:t>: `foo(arr[i])` → Array indexing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Algorithm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Parse argument expression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Identify derivation pattern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Extract base variables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Track transformations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Map to formal parameter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ReturnValueAnalyzer -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Purpose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Analyzes return statements</a:t>
            </a:r>
            <a:r>
              <a:rPr sz="1400">
                <a:solidFill>
                  <a:srgbClr val="000000"/>
                </a:solidFill>
              </a:rPr>
              <a:t> for inter-procedural analysis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000000"/>
                </a:solidFill>
              </a:rPr>
              <a:t>Tracks </a:t>
            </a:r>
            <a:r>
              <a:rPr b="1" sz="1400">
                <a:solidFill>
                  <a:srgbClr val="000000"/>
                </a:solidFill>
              </a:rPr>
              <a:t>return value patterns</a:t>
            </a:r>
            <a:r>
              <a:rPr sz="1400">
                <a:solidFill>
                  <a:srgbClr val="000000"/>
                </a:solidFill>
              </a:rPr>
              <a:t> and </a:t>
            </a:r>
            <a:r>
              <a:rPr b="1" sz="1400">
                <a:solidFill>
                  <a:srgbClr val="000000"/>
                </a:solidFill>
              </a:rPr>
              <a:t>variables used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6 return types</a:t>
            </a:r>
            <a:r>
              <a:rPr sz="1400">
                <a:solidFill>
                  <a:srgbClr val="000000"/>
                </a:solidFill>
              </a:rPr>
              <a:t>: Variable, Expression, Call, Constant, Conditional, Void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Phase 4</a:t>
            </a:r>
            <a:r>
              <a:rPr sz="1400">
                <a:solidFill>
                  <a:srgbClr val="000000"/>
                </a:solidFill>
              </a:rPr>
              <a:t> of IPA framework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Key Features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Return extraction</a:t>
            </a:r>
            <a:r>
              <a:rPr sz="1400">
                <a:solidFill>
                  <a:srgbClr val="000000"/>
                </a:solidFill>
              </a:rPr>
              <a:t>: Find all return statements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Pattern classification</a:t>
            </a:r>
            <a:r>
              <a:rPr sz="1400">
                <a:solidFill>
                  <a:srgbClr val="000000"/>
                </a:solidFill>
              </a:rPr>
              <a:t>: Identify return type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Variable tracking</a:t>
            </a:r>
            <a:r>
              <a:rPr sz="1400">
                <a:solidFill>
                  <a:srgbClr val="000000"/>
                </a:solidFill>
              </a:rPr>
              <a:t>: Variables used in return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Type inference</a:t>
            </a:r>
            <a:r>
              <a:rPr sz="1400">
                <a:solidFill>
                  <a:srgbClr val="000000"/>
                </a:solidFill>
              </a:rPr>
              <a:t>: Return type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ReturnValueAnalyzer -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Return Types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VARIABLE</a:t>
            </a:r>
            <a:r>
              <a:rPr sz="1400">
                <a:solidFill>
                  <a:srgbClr val="000000"/>
                </a:solidFill>
              </a:rPr>
              <a:t>: `return x;` → Direct variable return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EXPRESSION</a:t>
            </a:r>
            <a:r>
              <a:rPr sz="1400">
                <a:solidFill>
                  <a:srgbClr val="000000"/>
                </a:solidFill>
              </a:rPr>
              <a:t>: `return x + 1;` → Arithmetic expression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CALL</a:t>
            </a:r>
            <a:r>
              <a:rPr sz="1400">
                <a:solidFill>
                  <a:srgbClr val="000000"/>
                </a:solidFill>
              </a:rPr>
              <a:t>: `return foo();` → Function call result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CONSTANT</a:t>
            </a:r>
            <a:r>
              <a:rPr sz="1400">
                <a:solidFill>
                  <a:srgbClr val="000000"/>
                </a:solidFill>
              </a:rPr>
              <a:t>: `return 5;` → Constant value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CONDITIONAL</a:t>
            </a:r>
            <a:r>
              <a:rPr sz="1400">
                <a:solidFill>
                  <a:srgbClr val="000000"/>
                </a:solidFill>
              </a:rPr>
              <a:t>: `return (cond) ? a : b;` → Ternary operator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VOID</a:t>
            </a:r>
            <a:r>
              <a:rPr sz="1400">
                <a:solidFill>
                  <a:srgbClr val="000000"/>
                </a:solidFill>
              </a:rPr>
              <a:t>: `return;` → No return value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Algorithm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Scan all blocks</a:t>
            </a:r>
            <a:r>
              <a:rPr sz="1400">
                <a:solidFill>
                  <a:srgbClr val="000000"/>
                </a:solidFill>
              </a:rPr>
              <a:t> for return statements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Parse return expression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Classify pattern type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Extract used variables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Infer return 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FunctionSummaries -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Purpose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Pre-defined models</a:t>
            </a:r>
            <a:r>
              <a:rPr sz="1400">
                <a:solidFill>
                  <a:srgbClr val="000000"/>
                </a:solidFill>
              </a:rPr>
              <a:t> for </a:t>
            </a:r>
            <a:r>
              <a:rPr b="1" sz="1400">
                <a:solidFill>
                  <a:srgbClr val="000000"/>
                </a:solidFill>
              </a:rPr>
              <a:t>library functions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000000"/>
                </a:solidFill>
              </a:rPr>
              <a:t>Describes </a:t>
            </a:r>
            <a:r>
              <a:rPr b="1" sz="1400">
                <a:solidFill>
                  <a:srgbClr val="000000"/>
                </a:solidFill>
              </a:rPr>
              <a:t>parameter effects</a:t>
            </a:r>
            <a:r>
              <a:rPr sz="1400">
                <a:solidFill>
                  <a:srgbClr val="000000"/>
                </a:solidFill>
              </a:rPr>
              <a:t> and </a:t>
            </a:r>
            <a:r>
              <a:rPr b="1" sz="1400">
                <a:solidFill>
                  <a:srgbClr val="000000"/>
                </a:solidFill>
              </a:rPr>
              <a:t>return values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000000"/>
                </a:solidFill>
              </a:rPr>
              <a:t>Enables </a:t>
            </a:r>
            <a:r>
              <a:rPr b="1" sz="1400">
                <a:solidFill>
                  <a:srgbClr val="000000"/>
                </a:solidFill>
              </a:rPr>
              <a:t>taint propagation</a:t>
            </a:r>
            <a:r>
              <a:rPr sz="1400">
                <a:solidFill>
                  <a:srgbClr val="000000"/>
                </a:solidFill>
              </a:rPr>
              <a:t> through external functions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Phase 4</a:t>
            </a:r>
            <a:r>
              <a:rPr sz="1400">
                <a:solidFill>
                  <a:srgbClr val="000000"/>
                </a:solidFill>
              </a:rPr>
              <a:t> of IPA framework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Key Information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Parameter modes</a:t>
            </a:r>
            <a:r>
              <a:rPr sz="1400">
                <a:solidFill>
                  <a:srgbClr val="000000"/>
                </a:solidFill>
              </a:rPr>
              <a:t>: IN, OUT, INOUT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Return value</a:t>
            </a:r>
            <a:r>
              <a:rPr sz="1400">
                <a:solidFill>
                  <a:srgbClr val="000000"/>
                </a:solidFill>
              </a:rPr>
              <a:t> taint propagation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Global variable</a:t>
            </a:r>
            <a:r>
              <a:rPr sz="1400">
                <a:solidFill>
                  <a:srgbClr val="000000"/>
                </a:solidFill>
              </a:rPr>
              <a:t> effects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Taint summaries</a:t>
            </a:r>
            <a:r>
              <a:rPr sz="1400">
                <a:solidFill>
                  <a:srgbClr val="000000"/>
                </a:solidFill>
              </a:rPr>
              <a:t> for security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FunctionSummaries -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Summary Structure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ParameterSummary</a:t>
            </a:r>
            <a:r>
              <a:rPr sz="1400">
                <a:solidFill>
                  <a:srgbClr val="000000"/>
                </a:solidFill>
              </a:rPr>
              <a:t>: Index, name, mode, taint propagation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ReturnValueSummary</a:t>
            </a:r>
            <a:r>
              <a:rPr sz="1400">
                <a:solidFill>
                  <a:srgbClr val="000000"/>
                </a:solidFill>
              </a:rPr>
              <a:t>: Type, taint status, dependencies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GlobalEffect</a:t>
            </a:r>
            <a:r>
              <a:rPr sz="1400">
                <a:solidFill>
                  <a:srgbClr val="000000"/>
                </a:solidFill>
              </a:rPr>
              <a:t>: Variable modifications and taint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FunctionSummary</a:t>
            </a:r>
            <a:r>
              <a:rPr sz="1400">
                <a:solidFill>
                  <a:srgbClr val="000000"/>
                </a:solidFill>
              </a:rPr>
              <a:t>: Complete function model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Example: strcpy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Parameter 0</a:t>
            </a:r>
            <a:r>
              <a:rPr sz="1400">
                <a:solidFill>
                  <a:srgbClr val="000000"/>
                </a:solidFill>
              </a:rPr>
              <a:t> (dest): OUT mode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Parameter 1</a:t>
            </a:r>
            <a:r>
              <a:rPr sz="1400">
                <a:solidFill>
                  <a:srgbClr val="000000"/>
                </a:solidFill>
              </a:rPr>
              <a:t> (src): IN mode, </a:t>
            </a:r>
            <a:r>
              <a:rPr b="1" sz="1400">
                <a:solidFill>
                  <a:srgbClr val="000000"/>
                </a:solidFill>
              </a:rPr>
              <a:t>taints return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Return value</a:t>
            </a:r>
            <a:r>
              <a:rPr sz="1400">
                <a:solidFill>
                  <a:srgbClr val="000000"/>
                </a:solidFill>
              </a:rPr>
              <a:t>: Tainted by parameter 1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Effect</a:t>
            </a:r>
            <a:r>
              <a:rPr sz="1400">
                <a:solidFill>
                  <a:srgbClr val="000000"/>
                </a:solidFill>
              </a:rPr>
              <a:t>: Copies taint from src to dest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InterProceduralTaintAnalyzer -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Purpose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Extends taint analysis</a:t>
            </a:r>
            <a:r>
              <a:rPr sz="1400">
                <a:solidFill>
                  <a:srgbClr val="000000"/>
                </a:solidFill>
              </a:rPr>
              <a:t> across function boundaries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000000"/>
                </a:solidFill>
              </a:rPr>
              <a:t>Handles </a:t>
            </a:r>
            <a:r>
              <a:rPr b="1" sz="1400">
                <a:solidFill>
                  <a:srgbClr val="000000"/>
                </a:solidFill>
              </a:rPr>
              <a:t>parameter taint mapping</a:t>
            </a:r>
            <a:r>
              <a:rPr sz="1400">
                <a:solidFill>
                  <a:srgbClr val="000000"/>
                </a:solidFill>
              </a:rPr>
              <a:t> and </a:t>
            </a:r>
            <a:r>
              <a:rPr b="1" sz="1400">
                <a:solidFill>
                  <a:srgbClr val="000000"/>
                </a:solidFill>
              </a:rPr>
              <a:t>return value propagation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000000"/>
                </a:solidFill>
              </a:rPr>
              <a:t>Uses </a:t>
            </a:r>
            <a:r>
              <a:rPr b="1" sz="1400">
                <a:solidFill>
                  <a:srgbClr val="000000"/>
                </a:solidFill>
              </a:rPr>
              <a:t>library function summaries</a:t>
            </a:r>
            <a:r>
              <a:rPr sz="1400">
                <a:solidFill>
                  <a:srgbClr val="000000"/>
                </a:solidFill>
              </a:rPr>
              <a:t> for external calls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Context-insensitive</a:t>
            </a:r>
            <a:r>
              <a:rPr sz="1400">
                <a:solidFill>
                  <a:srgbClr val="000000"/>
                </a:solidFill>
              </a:rPr>
              <a:t> base for context-sensitive enhancement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Key Features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Parameter taint</a:t>
            </a:r>
            <a:r>
              <a:rPr sz="1400">
                <a:solidFill>
                  <a:srgbClr val="000000"/>
                </a:solidFill>
              </a:rPr>
              <a:t>: Maps actual arguments to formal parameters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Return value taint</a:t>
            </a:r>
            <a:r>
              <a:rPr sz="1400">
                <a:solidFill>
                  <a:srgbClr val="000000"/>
                </a:solidFill>
              </a:rPr>
              <a:t>: Propagates taint back to callers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Taint summaries</a:t>
            </a:r>
            <a:r>
              <a:rPr sz="1400">
                <a:solidFill>
                  <a:srgbClr val="000000"/>
                </a:solidFill>
              </a:rPr>
              <a:t>: Applies library function models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Fixed-point iteration</a:t>
            </a:r>
            <a:r>
              <a:rPr sz="1400">
                <a:solidFill>
                  <a:srgbClr val="000000"/>
                </a:solidFill>
              </a:rPr>
              <a:t>: Worklist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InterProceduralTaintAnalyzer -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Algorithm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646464"/>
                </a:solidFill>
              </a:rPr>
              <a:t>1. **Process function calls**: Check if arguments are tainted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646464"/>
                </a:solidFill>
              </a:rPr>
              <a:t>2. **Map taint**: Actual arguments → formal parameters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646464"/>
                </a:solidFill>
              </a:rPr>
              <a:t>3. **Propagate within callee**: Use intra-procedural taint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646464"/>
                </a:solidFill>
              </a:rPr>
              <a:t>4. **Track return values**: Extract and propagate back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646464"/>
                </a:solidFill>
              </a:rPr>
              <a:t>5. **Apply summaries**: Use FunctionSummaries for libraries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646464"/>
                </a:solidFill>
              </a:rPr>
              <a:t>6. **Iterate**: Until fixed point (no new taint)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Example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646464"/>
                </a:solidFill>
              </a:rPr>
              <a:t>main() {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646464"/>
                </a:solidFill>
              </a:rPr>
              <a:t>user_input = getchar();        // Tainted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646464"/>
                </a:solidFill>
              </a:rPr>
              <a:t>result = process(user_input);  // Parameter taint → process()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646464"/>
                </a:solidFill>
              </a:rPr>
              <a:t>}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646464"/>
                </a:solidFill>
              </a:rPr>
              <a:t>process(input) {                 // input tainted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646464"/>
                </a:solidFill>
              </a:rPr>
              <a:t>return input;                  // Return value tainted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646464"/>
                </a:solidFill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Context-Sensitive Taint Analysis -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Purpose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Enhances precision</a:t>
            </a:r>
            <a:r>
              <a:rPr sz="1400">
                <a:solidFill>
                  <a:srgbClr val="000000"/>
                </a:solidFill>
              </a:rPr>
              <a:t> of inter-procedural taint analysis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000000"/>
                </a:solidFill>
              </a:rPr>
              <a:t>Tracks taint with </a:t>
            </a:r>
            <a:r>
              <a:rPr b="1" sz="1400">
                <a:solidFill>
                  <a:srgbClr val="000000"/>
                </a:solidFill>
              </a:rPr>
              <a:t>call-site context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Reduces false positives</a:t>
            </a:r>
            <a:r>
              <a:rPr sz="1400">
                <a:solidFill>
                  <a:srgbClr val="000000"/>
                </a:solidFill>
              </a:rPr>
              <a:t> by distinguishing call sites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k-limited context</a:t>
            </a:r>
            <a:r>
              <a:rPr sz="1400">
                <a:solidFill>
                  <a:srgbClr val="000000"/>
                </a:solidFill>
              </a:rPr>
              <a:t> (k=1 or k=2) for scalability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Key Concept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Context-insensitive</a:t>
            </a:r>
            <a:r>
              <a:rPr sz="1400">
                <a:solidFill>
                  <a:srgbClr val="000000"/>
                </a:solidFill>
              </a:rPr>
              <a:t>: All calls to `f(x)` treated the same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Context-sensitive</a:t>
            </a:r>
            <a:r>
              <a:rPr sz="1400">
                <a:solidFill>
                  <a:srgbClr val="000000"/>
                </a:solidFill>
              </a:rPr>
              <a:t>: `f(tainted)` vs `f(safe)` tracked separately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K-limited</a:t>
            </a:r>
            <a:r>
              <a:rPr sz="1400">
                <a:solidFill>
                  <a:srgbClr val="000000"/>
                </a:solidFill>
              </a:rPr>
              <a:t>: Track last k functions in call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Context-Sensitive Taint Analysis -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Algorithm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Build call-site context</a:t>
            </a:r>
            <a:r>
              <a:rPr sz="1400">
                <a:solidFill>
                  <a:srgbClr val="000000"/>
                </a:solidFill>
              </a:rPr>
              <a:t> from call stack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Track taint state</a:t>
            </a:r>
            <a:r>
              <a:rPr sz="1400">
                <a:solidFill>
                  <a:srgbClr val="000000"/>
                </a:solidFill>
              </a:rPr>
              <a:t> per call site (arguments, return, globals)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Propagate taint</a:t>
            </a:r>
            <a:r>
              <a:rPr sz="1400">
                <a:solidFill>
                  <a:srgbClr val="000000"/>
                </a:solidFill>
              </a:rPr>
              <a:t> with context separation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Merge contexts</a:t>
            </a:r>
            <a:r>
              <a:rPr sz="1400">
                <a:solidFill>
                  <a:srgbClr val="000000"/>
                </a:solidFill>
              </a:rPr>
              <a:t> when k-limit reached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Worklist algorithm</a:t>
            </a:r>
            <a:r>
              <a:rPr sz="1400">
                <a:solidFill>
                  <a:srgbClr val="000000"/>
                </a:solidFill>
              </a:rPr>
              <a:t> for fixed-point iteration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Example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646464"/>
                </a:solidFill>
              </a:rPr>
              <a:t>main() → process(user_input)  [Context: main]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646464"/>
                </a:solidFill>
              </a:rPr>
              <a:t>main() → process("safe")      [Context: main]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Two separate contexts</a:t>
            </a:r>
            <a:r>
              <a:rPr sz="1400">
                <a:solidFill>
                  <a:srgbClr val="000000"/>
                </a:solidFill>
              </a:rPr>
              <a:t> prevent false positives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Return value taint</a:t>
            </a:r>
            <a:r>
              <a:rPr sz="1400">
                <a:solidFill>
                  <a:srgbClr val="000000"/>
                </a:solidFill>
              </a:rPr>
              <a:t> propagated back with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CFGVisualizer -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Purpose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Interactive visualization</a:t>
            </a:r>
            <a:r>
              <a:rPr sz="1400">
                <a:solidFill>
                  <a:srgbClr val="000000"/>
                </a:solidFill>
              </a:rPr>
              <a:t> of CFGs and analysis results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Webview-based</a:t>
            </a:r>
            <a:r>
              <a:rPr sz="1400">
                <a:solidFill>
                  <a:srgbClr val="000000"/>
                </a:solidFill>
              </a:rPr>
              <a:t> using </a:t>
            </a:r>
            <a:r>
              <a:rPr b="1" sz="1400">
                <a:solidFill>
                  <a:srgbClr val="000000"/>
                </a:solidFill>
              </a:rPr>
              <a:t>vis-network</a:t>
            </a:r>
            <a:r>
              <a:rPr sz="1400">
                <a:solidFill>
                  <a:srgbClr val="000000"/>
                </a:solidFill>
              </a:rPr>
              <a:t> library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Multiple visualization tabs</a:t>
            </a:r>
            <a:r>
              <a:rPr sz="1400">
                <a:solidFill>
                  <a:srgbClr val="000000"/>
                </a:solidFill>
              </a:rPr>
              <a:t>: CFG, Call Graph, Taint, Inter-Procedural, Interconnected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Real-time updates</a:t>
            </a:r>
            <a:r>
              <a:rPr sz="1400">
                <a:solidFill>
                  <a:srgbClr val="000000"/>
                </a:solidFill>
              </a:rPr>
              <a:t> when analysis state changes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Key Features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Panel management</a:t>
            </a:r>
            <a:r>
              <a:rPr sz="1400">
                <a:solidFill>
                  <a:srgbClr val="000000"/>
                </a:solidFill>
              </a:rPr>
              <a:t>: Multiple files, multiple views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Backend data preparation</a:t>
            </a:r>
            <a:r>
              <a:rPr sz="1400">
                <a:solidFill>
                  <a:srgbClr val="000000"/>
                </a:solidFill>
              </a:rPr>
              <a:t>: All data ready before display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Interactive exploration</a:t>
            </a:r>
            <a:r>
              <a:rPr sz="1400">
                <a:solidFill>
                  <a:srgbClr val="000000"/>
                </a:solidFill>
              </a:rPr>
              <a:t>: Click blocks for details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Sensitivity mismatch detection</a:t>
            </a:r>
            <a:r>
              <a:rPr sz="1400">
                <a:solidFill>
                  <a:srgbClr val="000000"/>
                </a:solidFill>
              </a:rPr>
              <a:t>: Automatic re-analysis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371600"/>
            <a:ext cx="3657600" cy="3200400"/>
          </a:xfrm>
          <a:prstGeom prst="rect">
            <a:avLst/>
          </a:prstGeom>
          <a:solidFill>
            <a:srgbClr val="F5F5F5"/>
          </a:solidFill>
          <a:ln w="25400">
            <a:solidFill>
              <a:srgbClr val="C8C8C8"/>
            </a:solidFill>
          </a:ln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808080"/>
                </a:solidFill>
              </a:defRPr>
            </a:pPr>
            <a:r>
              <a:t>CFGVisualizer Overview</a:t>
            </a:r>
          </a:p>
          <a:p/>
          <a:p>
            <a:r>
              <a:t>Take screenshot of:</a:t>
            </a:r>
          </a:p>
          <a:p>
            <a:r>
              <a:t>- VS Code extension panel</a:t>
            </a:r>
          </a:p>
          <a:p>
            <a:r>
              <a:t>- Visualization tabs</a:t>
            </a:r>
          </a:p>
          <a:p>
            <a:r>
              <a:t>- CFG graph display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CFGVisualizer -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Visualization Tabs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CFG Tab</a:t>
            </a:r>
            <a:r>
              <a:rPr sz="1400">
                <a:solidFill>
                  <a:srgbClr val="000000"/>
                </a:solidFill>
              </a:rPr>
              <a:t>: Individual function control flow graphs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Call Graph Tab</a:t>
            </a:r>
            <a:r>
              <a:rPr sz="1400">
                <a:solidFill>
                  <a:srgbClr val="000000"/>
                </a:solidFill>
              </a:rPr>
              <a:t>: Function call relationships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Taint Analysis Tab</a:t>
            </a:r>
            <a:r>
              <a:rPr sz="1400">
                <a:solidFill>
                  <a:srgbClr val="000000"/>
                </a:solidFill>
              </a:rPr>
              <a:t>: Taint sources, sinks, vulnerabilities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Inter-Procedural Taint Tab</a:t>
            </a:r>
            <a:r>
              <a:rPr sz="1400">
                <a:solidFill>
                  <a:srgbClr val="000000"/>
                </a:solidFill>
              </a:rPr>
              <a:t>: Cross-function taint propagation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Interconnected CFG Tab</a:t>
            </a:r>
            <a:r>
              <a:rPr sz="1400">
                <a:solidFill>
                  <a:srgbClr val="000000"/>
                </a:solidFill>
              </a:rPr>
              <a:t>: Unified view with all edge types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Edge Types (Interconnected CFG)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Green</a:t>
            </a:r>
            <a:r>
              <a:rPr sz="1400">
                <a:solidFill>
                  <a:srgbClr val="000000"/>
                </a:solidFill>
              </a:rPr>
              <a:t>: Control flow edges (within functions)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Blue</a:t>
            </a:r>
            <a:r>
              <a:rPr sz="1400">
                <a:solidFill>
                  <a:srgbClr val="000000"/>
                </a:solidFill>
              </a:rPr>
              <a:t>: Function call edges (between functions)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Orange</a:t>
            </a:r>
            <a:r>
              <a:rPr sz="1400">
                <a:solidFill>
                  <a:srgbClr val="000000"/>
                </a:solidFill>
              </a:rPr>
              <a:t>: Data flow edges (reaching definitions)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Data Preparation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prepareGraphData()</a:t>
            </a:r>
            <a:r>
              <a:rPr sz="1400">
                <a:solidFill>
                  <a:srgbClr val="000000"/>
                </a:solidFill>
              </a:rPr>
              <a:t>: CFG visualization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prepareCallGraphData()</a:t>
            </a:r>
            <a:r>
              <a:rPr sz="1400">
                <a:solidFill>
                  <a:srgbClr val="000000"/>
                </a:solidFill>
              </a:rPr>
              <a:t>: Call graph visualization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prepareTaintData()</a:t>
            </a:r>
            <a:r>
              <a:rPr sz="1400">
                <a:solidFill>
                  <a:srgbClr val="000000"/>
                </a:solidFill>
              </a:rPr>
              <a:t>: Taint analysis visualization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prepareInterconnectedCFGData()</a:t>
            </a:r>
            <a:r>
              <a:rPr sz="1400">
                <a:solidFill>
                  <a:srgbClr val="000000"/>
                </a:solidFill>
              </a:rPr>
              <a:t>: Unified CFG 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371600"/>
            <a:ext cx="3657600" cy="3200400"/>
          </a:xfrm>
          <a:prstGeom prst="rect">
            <a:avLst/>
          </a:prstGeom>
          <a:solidFill>
            <a:srgbClr val="F5F5F5"/>
          </a:solidFill>
          <a:ln w="25400">
            <a:solidFill>
              <a:srgbClr val="C8C8C8"/>
            </a:solidFill>
          </a:ln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808080"/>
                </a:solidFill>
              </a:defRPr>
            </a:pPr>
            <a:r>
              <a:t>CFGVisualizer Implementation</a:t>
            </a:r>
          </a:p>
          <a:p/>
          <a:p>
            <a:r>
              <a:t>Take screenshot of:</a:t>
            </a:r>
          </a:p>
          <a:p>
            <a:r>
              <a:t>- Interconnected CFG view</a:t>
            </a:r>
          </a:p>
          <a:p>
            <a:r>
              <a:t>- Edge type toggles</a:t>
            </a:r>
          </a:p>
          <a:p>
            <a:r>
              <a:t>- Multiple visualization tabs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Inter-Procedural Analysis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6949440" cy="3200400"/>
          </a:xfrm>
          <a:prstGeom prst="rect">
            <a:avLst/>
          </a:prstGeom>
          <a:solidFill>
            <a:srgbClr val="FAFAFA"/>
          </a:solidFill>
          <a:ln w="25400">
            <a:solidFill>
              <a:srgbClr val="C8C8C8"/>
            </a:solidFill>
          </a:ln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969696"/>
                </a:solidFill>
              </a:defRPr>
            </a:pPr>
            <a:r>
              <a:t>[IPA FRAMEWORK DIAGRAM PLACEHOLDER]</a:t>
            </a:r>
          </a:p>
          <a:p/>
          <a:p>
            <a:r>
              <a:t>Add diagram showing:</a:t>
            </a:r>
          </a:p>
          <a:p>
            <a:r>
              <a:t>- Phase 1: Call Graph Construction</a:t>
            </a:r>
          </a:p>
          <a:p>
            <a:r>
              <a:t>- Phase 2: Advanced Call Graph Analysis</a:t>
            </a:r>
          </a:p>
          <a:p>
            <a:r>
              <a:t>- Component relationships</a:t>
            </a:r>
          </a:p>
          <a:p>
            <a:r>
              <a:t>- 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663440"/>
            <a:ext cx="7863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Phase 1: Call Graph Construction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CallGraphAnalyzer</a:t>
            </a:r>
            <a:r>
              <a:rPr sz="1400">
                <a:solidFill>
                  <a:srgbClr val="000000"/>
                </a:solidFill>
              </a:rPr>
              <a:t>: Builds call graph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Recursion detection</a:t>
            </a:r>
            <a:r>
              <a:rPr sz="1400">
                <a:solidFill>
                  <a:srgbClr val="000000"/>
                </a:solidFill>
              </a:rPr>
              <a:t>: Direct, mutual, tail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External identification</a:t>
            </a:r>
            <a:r>
              <a:rPr sz="1400">
                <a:solidFill>
                  <a:srgbClr val="000000"/>
                </a:solidFill>
              </a:rPr>
              <a:t>: Library/system functions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Phase 2: Advanced Call Graph Analysis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Statistics</a:t>
            </a:r>
            <a:r>
              <a:rPr sz="1400">
                <a:solidFill>
                  <a:srgbClr val="000000"/>
                </a:solidFill>
              </a:rPr>
              <a:t>: Call counts, recursion depth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Strongly connected components</a:t>
            </a:r>
            <a:r>
              <a:rPr sz="1400">
                <a:solidFill>
                  <a:srgbClr val="000000"/>
                </a:solidFill>
              </a:rPr>
              <a:t>: Tarjan's algorithm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External categorization</a:t>
            </a:r>
            <a:r>
              <a:rPr sz="1400">
                <a:solidFill>
                  <a:srgbClr val="000000"/>
                </a:solidFill>
              </a:rPr>
              <a:t>: STDLIB, CSTDLIB, POSIX,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Inter-Procedural Analysis Framework (Continued)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6949440" cy="3200400"/>
          </a:xfrm>
          <a:prstGeom prst="rect">
            <a:avLst/>
          </a:prstGeom>
          <a:solidFill>
            <a:srgbClr val="FAFAFA"/>
          </a:solidFill>
          <a:ln w="25400">
            <a:solidFill>
              <a:srgbClr val="C8C8C8"/>
            </a:solidFill>
          </a:ln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969696"/>
                </a:solidFill>
              </a:defRPr>
            </a:pPr>
            <a:r>
              <a:t>[IPA FRAMEWORK DIAGRAM PLACEHOLDER]</a:t>
            </a:r>
          </a:p>
          <a:p/>
          <a:p>
            <a:r>
              <a:t>Add diagram showing:</a:t>
            </a:r>
          </a:p>
          <a:p>
            <a:r>
              <a:t>- Phase 3: Inter-Procedural Reaching Definitions</a:t>
            </a:r>
          </a:p>
          <a:p>
            <a:r>
              <a:t>- Phase 4: Parameter &amp; Return Value Analysis</a:t>
            </a:r>
          </a:p>
          <a:p>
            <a:r>
              <a:t>- Component relationships</a:t>
            </a:r>
          </a:p>
          <a:p>
            <a:r>
              <a:t>- 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663440"/>
            <a:ext cx="7863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Phase 3: Inter-Procedural Reaching Definitions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Context-insensitive</a:t>
            </a:r>
            <a:r>
              <a:rPr sz="1400">
                <a:solidFill>
                  <a:srgbClr val="000000"/>
                </a:solidFill>
              </a:rPr>
              <a:t> analysis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Definition propagation</a:t>
            </a:r>
            <a:r>
              <a:rPr sz="1400">
                <a:solidFill>
                  <a:srgbClr val="000000"/>
                </a:solidFill>
              </a:rPr>
              <a:t> across function calls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Parameter mapping</a:t>
            </a:r>
            <a:r>
              <a:rPr sz="1400">
                <a:solidFill>
                  <a:srgbClr val="000000"/>
                </a:solidFill>
              </a:rPr>
              <a:t>: Actual → Formal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Return value tracking</a:t>
            </a:r>
            <a:r>
              <a:rPr sz="1400">
                <a:solidFill>
                  <a:srgbClr val="000000"/>
                </a:solidFill>
              </a:rPr>
              <a:t>: Callee → Caller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Phase 4: Parameter &amp; Return Value Analysis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ParameterAnalyzer</a:t>
            </a:r>
            <a:r>
              <a:rPr sz="1400">
                <a:solidFill>
                  <a:srgbClr val="000000"/>
                </a:solidFill>
              </a:rPr>
              <a:t>: 7 derivation types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ReturnValueAnalyzer</a:t>
            </a:r>
            <a:r>
              <a:rPr sz="1400">
                <a:solidFill>
                  <a:srgbClr val="000000"/>
                </a:solidFill>
              </a:rPr>
              <a:t>: 6 return types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FunctionSummaries</a:t>
            </a:r>
            <a:r>
              <a:rPr sz="1400">
                <a:solidFill>
                  <a:srgbClr val="000000"/>
                </a:solidFill>
              </a:rPr>
              <a:t>: Library function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Taint Analysis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Control-Dependent Taint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Implicit flow</a:t>
            </a:r>
            <a:r>
              <a:rPr sz="1400">
                <a:solidFill>
                  <a:srgbClr val="000000"/>
                </a:solidFill>
              </a:rPr>
              <a:t> tracking through control dependencies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Fixed-point iteration</a:t>
            </a:r>
            <a:r>
              <a:rPr sz="1400">
                <a:solidFill>
                  <a:srgbClr val="000000"/>
                </a:solidFill>
              </a:rPr>
              <a:t> for propagation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Recursive propagation</a:t>
            </a:r>
            <a:r>
              <a:rPr sz="1400">
                <a:solidFill>
                  <a:srgbClr val="000000"/>
                </a:solidFill>
              </a:rPr>
              <a:t> through nested structures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Path-sensitive</a:t>
            </a:r>
            <a:r>
              <a:rPr sz="1400">
                <a:solidFill>
                  <a:srgbClr val="000000"/>
                </a:solidFill>
              </a:rPr>
              <a:t> analysis for precision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Taint Labels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USER_INPUT</a:t>
            </a:r>
            <a:r>
              <a:rPr sz="1400">
                <a:solidFill>
                  <a:srgbClr val="000000"/>
                </a:solidFill>
              </a:rPr>
              <a:t>: From user input sources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FILE_CONTENT</a:t>
            </a:r>
            <a:r>
              <a:rPr sz="1400">
                <a:solidFill>
                  <a:srgbClr val="000000"/>
                </a:solidFill>
              </a:rPr>
              <a:t>: From file I/O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NETWORK_DATA</a:t>
            </a:r>
            <a:r>
              <a:rPr sz="1400">
                <a:solidFill>
                  <a:srgbClr val="000000"/>
                </a:solidFill>
              </a:rPr>
              <a:t>: From network input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CONTROL_DEPENDENT</a:t>
            </a:r>
            <a:r>
              <a:rPr sz="1400">
                <a:solidFill>
                  <a:srgbClr val="000000"/>
                </a:solidFill>
              </a:rPr>
              <a:t>: From control dependencies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Visualization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Interactive CFG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Click blocks</a:t>
            </a:r>
            <a:r>
              <a:rPr sz="1400">
                <a:solidFill>
                  <a:srgbClr val="000000"/>
                </a:solidFill>
              </a:rPr>
              <a:t> for detailed information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Color-coded nodes</a:t>
            </a:r>
            <a:r>
              <a:rPr sz="1400">
                <a:solidFill>
                  <a:srgbClr val="000000"/>
                </a:solidFill>
              </a:rPr>
              <a:t>: Tainted blocks, attack paths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Topological layout</a:t>
            </a:r>
            <a:r>
              <a:rPr sz="1400">
                <a:solidFill>
                  <a:srgbClr val="000000"/>
                </a:solidFill>
              </a:rPr>
              <a:t>: Academic CFG standard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Real-time updates</a:t>
            </a:r>
            <a:r>
              <a:rPr sz="1400">
                <a:solidFill>
                  <a:srgbClr val="000000"/>
                </a:solidFill>
              </a:rPr>
              <a:t>: As code changes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Interconnected CFG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Unified graph</a:t>
            </a:r>
            <a:r>
              <a:rPr sz="1400">
                <a:solidFill>
                  <a:srgbClr val="000000"/>
                </a:solidFill>
              </a:rPr>
              <a:t>: All functions in one view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Three edge types</a:t>
            </a:r>
            <a:r>
              <a:rPr sz="1400">
                <a:solidFill>
                  <a:srgbClr val="000000"/>
                </a:solidFill>
              </a:rPr>
              <a:t>: Control flow, Function calls, Data flow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Dynamic block sizing</a:t>
            </a:r>
            <a:r>
              <a:rPr sz="1400">
                <a:solidFill>
                  <a:srgbClr val="000000"/>
                </a:solidFill>
              </a:rPr>
              <a:t>: Based on content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Edge type toggles</a:t>
            </a:r>
            <a:r>
              <a:rPr sz="1400">
                <a:solidFill>
                  <a:srgbClr val="000000"/>
                </a:solidFill>
              </a:rPr>
              <a:t>: Show/hide specific edge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371600"/>
            <a:ext cx="3657600" cy="3200400"/>
          </a:xfrm>
          <a:prstGeom prst="rect">
            <a:avLst/>
          </a:prstGeom>
          <a:solidFill>
            <a:srgbClr val="F5F5F5"/>
          </a:solidFill>
          <a:ln w="25400">
            <a:solidFill>
              <a:srgbClr val="C8C8C8"/>
            </a:solidFill>
          </a:ln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808080"/>
                </a:solidFill>
              </a:defRPr>
            </a:pPr>
            <a:r>
              <a:t>Visualization Features</a:t>
            </a:r>
          </a:p>
          <a:p/>
          <a:p>
            <a:r>
              <a:t>Take screenshot of:</a:t>
            </a:r>
          </a:p>
          <a:p>
            <a:r>
              <a:t>- Interactive CFG</a:t>
            </a:r>
          </a:p>
          <a:p>
            <a:r>
              <a:t>- Color-coded nodes</a:t>
            </a:r>
          </a:p>
          <a:p>
            <a:r>
              <a:t>- Edge type visualization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State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State Persistence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AnalysisState</a:t>
            </a:r>
            <a:r>
              <a:rPr sz="1400">
                <a:solidFill>
                  <a:srgbClr val="000000"/>
                </a:solidFill>
              </a:rPr>
              <a:t>: Complete analysis results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File-based storage</a:t>
            </a:r>
            <a:r>
              <a:rPr sz="1400">
                <a:solidFill>
                  <a:srgbClr val="000000"/>
                </a:solidFill>
              </a:rPr>
              <a:t>: `.vscode/dataflow-state.json`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Per-workspace</a:t>
            </a:r>
            <a:r>
              <a:rPr sz="1400">
                <a:solidFill>
                  <a:srgbClr val="000000"/>
                </a:solidFill>
              </a:rPr>
              <a:t>: Separate state per workspace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Cross-session</a:t>
            </a:r>
            <a:r>
              <a:rPr sz="1400">
                <a:solidFill>
                  <a:srgbClr val="000000"/>
                </a:solidFill>
              </a:rPr>
              <a:t>: Persists across VS Code restarts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Incremental Analysis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SHA-256 file hashing</a:t>
            </a:r>
            <a:r>
              <a:rPr sz="1400">
                <a:solidFill>
                  <a:srgbClr val="000000"/>
                </a:solidFill>
              </a:rPr>
              <a:t>: Change detection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Selective re-analysis</a:t>
            </a:r>
            <a:r>
              <a:rPr sz="1400">
                <a:solidFill>
                  <a:srgbClr val="000000"/>
                </a:solidFill>
              </a:rPr>
              <a:t>: Only changed files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Performance optimization</a:t>
            </a:r>
            <a:r>
              <a:rPr sz="1400">
                <a:solidFill>
                  <a:srgbClr val="000000"/>
                </a:solidFill>
              </a:rPr>
              <a:t>: Faster updates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Save states list</a:t>
            </a:r>
            <a:r>
              <a:rPr sz="1400">
                <a:solidFill>
                  <a:srgbClr val="000000"/>
                </a:solidFill>
              </a:rPr>
              <a:t>: Tracks all saved states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Academic Foundation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References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"Engineering a Compiler"</a:t>
            </a:r>
            <a:r>
              <a:rPr sz="1400">
                <a:solidFill>
                  <a:srgbClr val="000000"/>
                </a:solidFill>
              </a:rPr>
              <a:t> (Cooper &amp; Torczon): Dataflow analysis algorithms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"Compilers: Principles, Techniques, and Tools"</a:t>
            </a:r>
            <a:r>
              <a:rPr sz="1400">
                <a:solidFill>
                  <a:srgbClr val="000000"/>
                </a:solidFill>
              </a:rPr>
              <a:t> (Aho, Sethi, Ullman): Dragon Book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"Interprocedural Dataflow Analysis"</a:t>
            </a:r>
            <a:r>
              <a:rPr sz="1400">
                <a:solidFill>
                  <a:srgbClr val="000000"/>
                </a:solidFill>
              </a:rPr>
              <a:t> (Reps, Horwitz, Sagiv, 1995): IPA framework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"Context-Sensitive Interprocedural Analysis"</a:t>
            </a:r>
            <a:r>
              <a:rPr sz="1400">
                <a:solidFill>
                  <a:srgbClr val="000000"/>
                </a:solidFill>
              </a:rPr>
              <a:t> (Sharir &amp; Pnueli, 1981): Context sensitivity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Correctness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Official Clang CFG</a:t>
            </a:r>
            <a:r>
              <a:rPr sz="1400">
                <a:solidFill>
                  <a:srgbClr val="000000"/>
                </a:solidFill>
              </a:rPr>
              <a:t>: Uses `clang::CFG::buildCFG()`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Academic algorithms</a:t>
            </a:r>
            <a:r>
              <a:rPr sz="1400">
                <a:solidFill>
                  <a:srgbClr val="000000"/>
                </a:solidFill>
              </a:rPr>
              <a:t>: Standard dataflow equations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Theoretical soundness</a:t>
            </a:r>
            <a:r>
              <a:rPr sz="1400">
                <a:solidFill>
                  <a:srgbClr val="000000"/>
                </a:solidFill>
              </a:rPr>
              <a:t>: Follows compiler textbook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Project Statistics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Codebase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~15,000 lines</a:t>
            </a:r>
            <a:r>
              <a:rPr sz="1400">
                <a:solidFill>
                  <a:srgbClr val="000000"/>
                </a:solidFill>
              </a:rPr>
              <a:t> of TypeScript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~1,000 lines</a:t>
            </a:r>
            <a:r>
              <a:rPr sz="1400">
                <a:solidFill>
                  <a:srgbClr val="000000"/>
                </a:solidFill>
              </a:rPr>
              <a:t> of C++ (cfg-exporter)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25+ analyzer modules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5 sensitivity levels</a:t>
            </a:r>
            <a:r>
              <a:rPr sz="1400">
                <a:solidFill>
                  <a:srgbClr val="000000"/>
                </a:solidFill>
              </a:rPr>
              <a:t> for taint analysis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Features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14 vulnerability types</a:t>
            </a:r>
            <a:r>
              <a:rPr sz="1400">
                <a:solidFill>
                  <a:srgbClr val="000000"/>
                </a:solidFill>
              </a:rPr>
              <a:t> detected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7 taint source categories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7 taint sink categories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6 sanitization types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7 parameter derivation types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6 return value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Use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Security Research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Vulnerability detection</a:t>
            </a:r>
            <a:r>
              <a:rPr sz="1400">
                <a:solidFill>
                  <a:srgbClr val="000000"/>
                </a:solidFill>
              </a:rPr>
              <a:t> in C++ codebases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Attack path visualization</a:t>
            </a:r>
            <a:r>
              <a:rPr sz="1400">
                <a:solidFill>
                  <a:srgbClr val="000000"/>
                </a:solidFill>
              </a:rPr>
              <a:t> from source to sink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Exploit post-mortem</a:t>
            </a:r>
            <a:r>
              <a:rPr sz="1400">
                <a:solidFill>
                  <a:srgbClr val="000000"/>
                </a:solidFill>
              </a:rPr>
              <a:t> analysis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Code Review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Dataflow understanding</a:t>
            </a:r>
            <a:r>
              <a:rPr sz="1400">
                <a:solidFill>
                  <a:srgbClr val="000000"/>
                </a:solidFill>
              </a:rPr>
              <a:t>: How data flows through code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Taint tracking</a:t>
            </a:r>
            <a:r>
              <a:rPr sz="1400">
                <a:solidFill>
                  <a:srgbClr val="000000"/>
                </a:solidFill>
              </a:rPr>
              <a:t>: Where user input propagates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Vulnerability identification</a:t>
            </a:r>
            <a:r>
              <a:rPr sz="1400">
                <a:solidFill>
                  <a:srgbClr val="000000"/>
                </a:solidFill>
              </a:rPr>
              <a:t>: Security issues before deployment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Education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CFG visualization</a:t>
            </a:r>
            <a:r>
              <a:rPr sz="1400">
                <a:solidFill>
                  <a:srgbClr val="000000"/>
                </a:solidFill>
              </a:rPr>
              <a:t>: Learn control flow structures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Dataflow analysis</a:t>
            </a:r>
            <a:r>
              <a:rPr sz="1400">
                <a:solidFill>
                  <a:srgbClr val="000000"/>
                </a:solidFill>
              </a:rPr>
              <a:t>: Understand compiler analysis techniques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Security analysis</a:t>
            </a:r>
            <a:r>
              <a:rPr sz="1400">
                <a:solidFill>
                  <a:srgbClr val="000000"/>
                </a:solidFill>
              </a:rPr>
              <a:t>: Learn taint analysis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Technical Highlights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Official Clang Integration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Not a parse-only solution</a:t>
            </a:r>
            <a:r>
              <a:rPr sz="1400">
                <a:solidFill>
                  <a:srgbClr val="000000"/>
                </a:solidFill>
              </a:rPr>
              <a:t>: Uses official Clang CFG generation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Academic correctness</a:t>
            </a:r>
            <a:r>
              <a:rPr sz="1400">
                <a:solidFill>
                  <a:srgbClr val="000000"/>
                </a:solidFill>
              </a:rPr>
              <a:t>: Theoretically sound CFGs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Cross-platform</a:t>
            </a:r>
            <a:r>
              <a:rPr sz="1400">
                <a:solidFill>
                  <a:srgbClr val="000000"/>
                </a:solidFill>
              </a:rPr>
              <a:t>: Windows, macOS, Linux support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Advanced Analysis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Context-sensitive taint</a:t>
            </a:r>
            <a:r>
              <a:rPr sz="1400">
                <a:solidFill>
                  <a:srgbClr val="000000"/>
                </a:solidFill>
              </a:rPr>
              <a:t>: k-limited contexts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Path-sensitive analysis</a:t>
            </a:r>
            <a:r>
              <a:rPr sz="1400">
                <a:solidFill>
                  <a:srgbClr val="000000"/>
                </a:solidFill>
              </a:rPr>
              <a:t>: Reduces false positives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Field-sensitive analysis</a:t>
            </a:r>
            <a:r>
              <a:rPr sz="1400">
                <a:solidFill>
                  <a:srgbClr val="000000"/>
                </a:solidFill>
              </a:rPr>
              <a:t>: Struct field level tracking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Flow-sensitive analysis</a:t>
            </a:r>
            <a:r>
              <a:rPr sz="1400">
                <a:solidFill>
                  <a:srgbClr val="000000"/>
                </a:solidFill>
              </a:rPr>
              <a:t>: Statement order awareness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Planned Features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Pointer analysis</a:t>
            </a:r>
            <a:r>
              <a:rPr sz="1400">
                <a:solidFill>
                  <a:srgbClr val="000000"/>
                </a:solidFill>
              </a:rPr>
              <a:t>: More precise alias analysis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Symbolic execution</a:t>
            </a:r>
            <a:r>
              <a:rPr sz="1400">
                <a:solidFill>
                  <a:srgbClr val="000000"/>
                </a:solidFill>
              </a:rPr>
              <a:t>: Path exploration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Concurrency analysis</a:t>
            </a:r>
            <a:r>
              <a:rPr sz="1400">
                <a:solidFill>
                  <a:srgbClr val="000000"/>
                </a:solidFill>
              </a:rPr>
              <a:t>: Race condition detection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Performance optimization</a:t>
            </a:r>
            <a:r>
              <a:rPr sz="1400">
                <a:solidFill>
                  <a:srgbClr val="000000"/>
                </a:solidFill>
              </a:rPr>
              <a:t>: Faster analysis on large codebases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Research Directions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Machine learning</a:t>
            </a:r>
            <a:r>
              <a:rPr sz="1400">
                <a:solidFill>
                  <a:srgbClr val="000000"/>
                </a:solidFill>
              </a:rPr>
              <a:t>: Vulnerability prediction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Incremental updates</a:t>
            </a:r>
            <a:r>
              <a:rPr sz="1400">
                <a:solidFill>
                  <a:srgbClr val="000000"/>
                </a:solidFill>
              </a:rPr>
              <a:t>: Faster re-analysis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Parallel analysis</a:t>
            </a:r>
            <a:r>
              <a:rPr sz="1400">
                <a:solidFill>
                  <a:srgbClr val="000000"/>
                </a:solidFill>
              </a:rPr>
              <a:t>: Multi-threaded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Key Achievements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Comprehensive static analysis</a:t>
            </a:r>
            <a:r>
              <a:rPr sz="1400">
                <a:solidFill>
                  <a:srgbClr val="000000"/>
                </a:solidFill>
              </a:rPr>
              <a:t> for C++ code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Security-focused</a:t>
            </a:r>
            <a:r>
              <a:rPr sz="1400">
                <a:solidFill>
                  <a:srgbClr val="000000"/>
                </a:solidFill>
              </a:rPr>
              <a:t> vulnerability detection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Academic correctness</a:t>
            </a:r>
            <a:r>
              <a:rPr sz="1400">
                <a:solidFill>
                  <a:srgbClr val="000000"/>
                </a:solidFill>
              </a:rPr>
              <a:t> using official Clang libraries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Interactive visualization</a:t>
            </a:r>
            <a:r>
              <a:rPr sz="1400">
                <a:solidFill>
                  <a:srgbClr val="000000"/>
                </a:solidFill>
              </a:rPr>
              <a:t> for exploration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Impact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Security research</a:t>
            </a:r>
            <a:r>
              <a:rPr sz="1400">
                <a:solidFill>
                  <a:srgbClr val="000000"/>
                </a:solidFill>
              </a:rPr>
              <a:t>: Vulnerability detection and analysis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Code review</a:t>
            </a:r>
            <a:r>
              <a:rPr sz="1400">
                <a:solidFill>
                  <a:srgbClr val="000000"/>
                </a:solidFill>
              </a:rPr>
              <a:t>: Automated security scanning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Education</a:t>
            </a:r>
            <a:r>
              <a:rPr sz="1400">
                <a:solidFill>
                  <a:srgbClr val="000000"/>
                </a:solidFill>
              </a:rPr>
              <a:t>: Learning dataflow analysis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Questions &amp; Discussion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Topics for Discussion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Taint analysis</a:t>
            </a:r>
            <a:r>
              <a:rPr sz="1400">
                <a:solidFill>
                  <a:srgbClr val="000000"/>
                </a:solidFill>
              </a:rPr>
              <a:t> sensitivity levels and precision trade-offs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Inter-procedural analysis</a:t>
            </a:r>
            <a:r>
              <a:rPr sz="1400">
                <a:solidFill>
                  <a:srgbClr val="000000"/>
                </a:solidFill>
              </a:rPr>
              <a:t> challenges and solutions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Context-sensitive</a:t>
            </a:r>
            <a:r>
              <a:rPr sz="1400">
                <a:solidFill>
                  <a:srgbClr val="000000"/>
                </a:solidFill>
              </a:rPr>
              <a:t> analysis implementation details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Visualization</a:t>
            </a:r>
            <a:r>
              <a:rPr sz="1400">
                <a:solidFill>
                  <a:srgbClr val="000000"/>
                </a:solidFill>
              </a:rPr>
              <a:t> techniques and user interaction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003366"/>
                </a:solidFill>
              </a:rPr>
              <a:t>Contact &amp; Resources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GitHub</a:t>
            </a:r>
            <a:r>
              <a:rPr sz="1400">
                <a:solidFill>
                  <a:srgbClr val="000000"/>
                </a:solidFill>
              </a:rPr>
              <a:t>: Repository with full source code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Documentation</a:t>
            </a:r>
            <a:r>
              <a:rPr sz="1400">
                <a:solidFill>
                  <a:srgbClr val="000000"/>
                </a:solidFill>
              </a:rPr>
              <a:t>: Comprehensive README and guides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000000"/>
                </a:solidFill>
              </a:rPr>
              <a:t>Version</a:t>
            </a:r>
            <a:r>
              <a:rPr sz="1400">
                <a:solidFill>
                  <a:srgbClr val="000000"/>
                </a:solidFill>
              </a:rPr>
              <a:t>: 1.9.2.1 (latest release)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